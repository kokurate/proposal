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269" r:id="rId16"/>
    <p:sldId id="323" r:id="rId17"/>
  </p:sldIdLst>
  <p:sldSz cx="9144000" cy="5143500" type="screen16x9"/>
  <p:notesSz cx="6858000" cy="9144000"/>
  <p:embeddedFontLst>
    <p:embeddedFont>
      <p:font typeface="Montserrat ExtraBold" panose="020B0604020202020204" charset="0"/>
      <p:bold r:id="rId20"/>
      <p:boldItalic r:id="rId21"/>
    </p:embeddedFont>
    <p:embeddedFont>
      <p:font typeface="Barlow Semi Condensed" panose="020B0604020202020204" charset="0"/>
      <p:regular r:id="rId22"/>
      <p:bold r:id="rId23"/>
      <p:italic r:id="rId24"/>
      <p:boldItalic r:id="rId25"/>
    </p:embeddedFont>
    <p:embeddedFont>
      <p:font typeface="Barlow Semi Condensed Medium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FCA4"/>
    <a:srgbClr val="955DFF"/>
    <a:srgbClr val="FFFC5C"/>
    <a:srgbClr val="965CFF"/>
    <a:srgbClr val="FF5C5C"/>
    <a:srgbClr val="5F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154F6F0-0385-470E-A12A-F7239E4FAEB0}">
  <a:tblStyle styleId="{D154F6F0-0385-470E-A12A-F7239E4FAE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7" d="100"/>
          <a:sy n="97" d="100"/>
        </p:scale>
        <p:origin x="-606" y="-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74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4CCD5-7B8C-423E-A2CE-02C5C776E5D3}" type="datetimeFigureOut">
              <a:rPr lang="en-ID" smtClean="0"/>
              <a:t>30/03/2022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03EE1-3A56-464D-8D4D-84F9A5A3384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4610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9979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105c8a80e8_5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105c8a80e8_5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0f5de3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0f5de3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f5de3b70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f5de3b70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f5de3b70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f5de3b70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f5de3b70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f5de3b70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10a5b0fcb5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10a5b0fcb5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f5de3b70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f5de3b70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106694f9de_1_18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106694f9de_1_18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106694f9de_1_18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106694f9de_1_18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106694f9de_1_188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106694f9de_1_188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06694f9de_1_19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106694f9de_1_19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10a5b0fcb5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10a5b0fcb5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f5de3b70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f5de3b70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106694f9de_1_19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106694f9de_1_19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106694f9de_1_18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106694f9de_1_18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1106694f9de_1_18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1106694f9de_1_18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4000" y="902256"/>
            <a:ext cx="4086600" cy="19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4000" y="3493644"/>
            <a:ext cx="3858000" cy="442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714000" y="2895493"/>
            <a:ext cx="1358400" cy="3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651375" y="4335850"/>
            <a:ext cx="1507200" cy="1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312425" y="2316938"/>
            <a:ext cx="45186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312425" y="3780749"/>
            <a:ext cx="4518600" cy="38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3987775" y="1106278"/>
            <a:ext cx="1167900" cy="7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5000" b="1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7341750" y="-1231475"/>
            <a:ext cx="2810100" cy="28101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-676425" y="4133600"/>
            <a:ext cx="1717800" cy="1717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867925" y="-461425"/>
            <a:ext cx="1507200" cy="1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390525" y="-542375"/>
            <a:ext cx="1431900" cy="1431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7513950" y="-775400"/>
            <a:ext cx="1507200" cy="1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775226" y="4075123"/>
            <a:ext cx="2246700" cy="22467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149850" y="-680451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292225" y="4370750"/>
            <a:ext cx="1557000" cy="155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2"/>
          </p:nvPr>
        </p:nvSpPr>
        <p:spPr>
          <a:xfrm>
            <a:off x="1386782" y="2749250"/>
            <a:ext cx="29640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1386775" y="3206750"/>
            <a:ext cx="2964000" cy="8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 idx="3"/>
          </p:nvPr>
        </p:nvSpPr>
        <p:spPr>
          <a:xfrm>
            <a:off x="4920332" y="2749250"/>
            <a:ext cx="29640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4"/>
          </p:nvPr>
        </p:nvSpPr>
        <p:spPr>
          <a:xfrm>
            <a:off x="4920325" y="3206750"/>
            <a:ext cx="2964000" cy="8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6455175" y="-783600"/>
            <a:ext cx="1431900" cy="1431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-920725" y="3156025"/>
            <a:ext cx="1507200" cy="150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5710250" y="4742899"/>
            <a:ext cx="1617600" cy="16176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714000" y="2688931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714000" y="3330854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2" hasCustomPrompt="1"/>
          </p:nvPr>
        </p:nvSpPr>
        <p:spPr>
          <a:xfrm>
            <a:off x="819723" y="1974285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 b="1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3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4"/>
          </p:nvPr>
        </p:nvSpPr>
        <p:spPr>
          <a:xfrm>
            <a:off x="2683575" y="2688931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5"/>
          </p:nvPr>
        </p:nvSpPr>
        <p:spPr>
          <a:xfrm>
            <a:off x="2683575" y="3330854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6" hasCustomPrompt="1"/>
          </p:nvPr>
        </p:nvSpPr>
        <p:spPr>
          <a:xfrm>
            <a:off x="2787792" y="1974435"/>
            <a:ext cx="663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 b="1">
                <a:solidFill>
                  <a:schemeClr val="accent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7"/>
          </p:nvPr>
        </p:nvSpPr>
        <p:spPr>
          <a:xfrm>
            <a:off x="4653150" y="2688931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4653150" y="3330854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9" hasCustomPrompt="1"/>
          </p:nvPr>
        </p:nvSpPr>
        <p:spPr>
          <a:xfrm>
            <a:off x="4756709" y="1974285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 b="1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3"/>
          </p:nvPr>
        </p:nvSpPr>
        <p:spPr>
          <a:xfrm>
            <a:off x="6622725" y="2688931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4"/>
          </p:nvPr>
        </p:nvSpPr>
        <p:spPr>
          <a:xfrm>
            <a:off x="6622725" y="3330854"/>
            <a:ext cx="1801800" cy="5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5" hasCustomPrompt="1"/>
          </p:nvPr>
        </p:nvSpPr>
        <p:spPr>
          <a:xfrm>
            <a:off x="6731004" y="1974285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 b="1">
                <a:solidFill>
                  <a:schemeClr val="accen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/>
          <p:nvPr/>
        </p:nvSpPr>
        <p:spPr>
          <a:xfrm>
            <a:off x="8510800" y="309500"/>
            <a:ext cx="1507200" cy="1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-435400" y="-417600"/>
            <a:ext cx="1065900" cy="1065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-854175" y="4150275"/>
            <a:ext cx="2246700" cy="22467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1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312700" y="2316938"/>
            <a:ext cx="45186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2312150" y="3780749"/>
            <a:ext cx="4518600" cy="38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2" hasCustomPrompt="1"/>
          </p:nvPr>
        </p:nvSpPr>
        <p:spPr>
          <a:xfrm>
            <a:off x="3987499" y="1106278"/>
            <a:ext cx="1167900" cy="7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8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/>
          <p:nvPr/>
        </p:nvSpPr>
        <p:spPr>
          <a:xfrm>
            <a:off x="-639575" y="428074"/>
            <a:ext cx="1617600" cy="16176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965250" y="-667775"/>
            <a:ext cx="1507200" cy="1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8550650" y="2534599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333975" y="4387450"/>
            <a:ext cx="1557000" cy="155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3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8510800" y="309500"/>
            <a:ext cx="1507200" cy="150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2417925" y="4375800"/>
            <a:ext cx="1431900" cy="1431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-765325" y="-1092124"/>
            <a:ext cx="1799700" cy="17997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/>
          </p:nvPr>
        </p:nvSpPr>
        <p:spPr>
          <a:xfrm>
            <a:off x="784426" y="3207498"/>
            <a:ext cx="21948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784426" y="3681704"/>
            <a:ext cx="21948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3"/>
          </p:nvPr>
        </p:nvSpPr>
        <p:spPr>
          <a:xfrm>
            <a:off x="3474600" y="3207498"/>
            <a:ext cx="21948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4"/>
          </p:nvPr>
        </p:nvSpPr>
        <p:spPr>
          <a:xfrm>
            <a:off x="3474600" y="3681704"/>
            <a:ext cx="21948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 idx="5"/>
          </p:nvPr>
        </p:nvSpPr>
        <p:spPr>
          <a:xfrm>
            <a:off x="6164774" y="3207498"/>
            <a:ext cx="21948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ubTitle" idx="6"/>
          </p:nvPr>
        </p:nvSpPr>
        <p:spPr>
          <a:xfrm>
            <a:off x="6164774" y="3681704"/>
            <a:ext cx="21948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8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6818375" y="-817150"/>
            <a:ext cx="1507200" cy="1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-217125" y="4455224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4881425" y="4455225"/>
            <a:ext cx="1507200" cy="1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title" idx="2"/>
          </p:nvPr>
        </p:nvSpPr>
        <p:spPr>
          <a:xfrm>
            <a:off x="780806" y="2803534"/>
            <a:ext cx="21948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1"/>
          </p:nvPr>
        </p:nvSpPr>
        <p:spPr>
          <a:xfrm>
            <a:off x="780800" y="3277735"/>
            <a:ext cx="2194800" cy="6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title" idx="3"/>
          </p:nvPr>
        </p:nvSpPr>
        <p:spPr>
          <a:xfrm>
            <a:off x="3470978" y="2803534"/>
            <a:ext cx="21948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4"/>
          </p:nvPr>
        </p:nvSpPr>
        <p:spPr>
          <a:xfrm>
            <a:off x="3470977" y="3277735"/>
            <a:ext cx="2194800" cy="6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 idx="5"/>
          </p:nvPr>
        </p:nvSpPr>
        <p:spPr>
          <a:xfrm>
            <a:off x="6161153" y="2803534"/>
            <a:ext cx="21948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6"/>
          </p:nvPr>
        </p:nvSpPr>
        <p:spPr>
          <a:xfrm>
            <a:off x="6161150" y="3277735"/>
            <a:ext cx="2194800" cy="6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4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title" idx="2"/>
          </p:nvPr>
        </p:nvSpPr>
        <p:spPr>
          <a:xfrm>
            <a:off x="2253658" y="1375845"/>
            <a:ext cx="19080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subTitle" idx="1"/>
          </p:nvPr>
        </p:nvSpPr>
        <p:spPr>
          <a:xfrm>
            <a:off x="2253658" y="1760046"/>
            <a:ext cx="19080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title" idx="3"/>
          </p:nvPr>
        </p:nvSpPr>
        <p:spPr>
          <a:xfrm>
            <a:off x="5981409" y="1375845"/>
            <a:ext cx="19080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subTitle" idx="4"/>
          </p:nvPr>
        </p:nvSpPr>
        <p:spPr>
          <a:xfrm>
            <a:off x="5981409" y="1760046"/>
            <a:ext cx="19080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title" idx="5"/>
          </p:nvPr>
        </p:nvSpPr>
        <p:spPr>
          <a:xfrm>
            <a:off x="5981409" y="3648303"/>
            <a:ext cx="19080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ubTitle" idx="6"/>
          </p:nvPr>
        </p:nvSpPr>
        <p:spPr>
          <a:xfrm>
            <a:off x="5981409" y="4032603"/>
            <a:ext cx="19080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title" idx="7"/>
          </p:nvPr>
        </p:nvSpPr>
        <p:spPr>
          <a:xfrm>
            <a:off x="2253658" y="2525393"/>
            <a:ext cx="19080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subTitle" idx="8"/>
          </p:nvPr>
        </p:nvSpPr>
        <p:spPr>
          <a:xfrm>
            <a:off x="2253658" y="2909693"/>
            <a:ext cx="19080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title" idx="9"/>
          </p:nvPr>
        </p:nvSpPr>
        <p:spPr>
          <a:xfrm>
            <a:off x="5981409" y="2525393"/>
            <a:ext cx="19080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subTitle" idx="13"/>
          </p:nvPr>
        </p:nvSpPr>
        <p:spPr>
          <a:xfrm>
            <a:off x="5981409" y="2909693"/>
            <a:ext cx="19080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title" idx="14"/>
          </p:nvPr>
        </p:nvSpPr>
        <p:spPr>
          <a:xfrm>
            <a:off x="2253658" y="3648303"/>
            <a:ext cx="19080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5"/>
          </p:nvPr>
        </p:nvSpPr>
        <p:spPr>
          <a:xfrm>
            <a:off x="2253658" y="4032603"/>
            <a:ext cx="19080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-551600" y="1582599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421500" y="4663225"/>
            <a:ext cx="1557000" cy="155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4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5043426" y="1750600"/>
            <a:ext cx="27159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ubTitle" idx="1"/>
          </p:nvPr>
        </p:nvSpPr>
        <p:spPr>
          <a:xfrm>
            <a:off x="5043426" y="2354900"/>
            <a:ext cx="2715900" cy="10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7355275" y="-733650"/>
            <a:ext cx="1507200" cy="1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1026675" y="-680451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956950" y="4303950"/>
            <a:ext cx="1557000" cy="1557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BLANK_19">
    <p:bg>
      <p:bgPr>
        <a:solidFill>
          <a:schemeClr val="dk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>
            <a:spLocks noGrp="1"/>
          </p:cNvSpPr>
          <p:nvPr>
            <p:ph type="title"/>
          </p:nvPr>
        </p:nvSpPr>
        <p:spPr>
          <a:xfrm>
            <a:off x="714000" y="1460947"/>
            <a:ext cx="3578400" cy="12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subTitle" idx="1"/>
          </p:nvPr>
        </p:nvSpPr>
        <p:spPr>
          <a:xfrm>
            <a:off x="714000" y="2892653"/>
            <a:ext cx="33276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4994150" y="-792625"/>
            <a:ext cx="1239900" cy="1239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2342750" y="4303100"/>
            <a:ext cx="1557000" cy="155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6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8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/>
          <p:nvPr/>
        </p:nvSpPr>
        <p:spPr>
          <a:xfrm>
            <a:off x="7237325" y="3428201"/>
            <a:ext cx="2489100" cy="24891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6490375" y="-782725"/>
            <a:ext cx="1239900" cy="1239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-593400" y="1073349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7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1"/>
          <p:cNvSpPr/>
          <p:nvPr/>
        </p:nvSpPr>
        <p:spPr>
          <a:xfrm>
            <a:off x="355675" y="-983375"/>
            <a:ext cx="1239900" cy="1239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1"/>
          <p:cNvSpPr/>
          <p:nvPr/>
        </p:nvSpPr>
        <p:spPr>
          <a:xfrm>
            <a:off x="-1098075" y="3794976"/>
            <a:ext cx="2489100" cy="2489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8472450" y="154675"/>
            <a:ext cx="1557000" cy="155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6983075" y="4827724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/>
          <p:nvPr/>
        </p:nvSpPr>
        <p:spPr>
          <a:xfrm>
            <a:off x="8347175" y="-376025"/>
            <a:ext cx="1507200" cy="1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9"/>
          <p:cNvSpPr/>
          <p:nvPr/>
        </p:nvSpPr>
        <p:spPr>
          <a:xfrm>
            <a:off x="7775226" y="4059898"/>
            <a:ext cx="2246700" cy="22467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542325" y="-630351"/>
            <a:ext cx="1128300" cy="11283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9"/>
          <p:cNvSpPr/>
          <p:nvPr/>
        </p:nvSpPr>
        <p:spPr>
          <a:xfrm>
            <a:off x="172075" y="4404750"/>
            <a:ext cx="1557000" cy="1557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4572000" y="932925"/>
            <a:ext cx="3855300" cy="6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1"/>
          </p:nvPr>
        </p:nvSpPr>
        <p:spPr>
          <a:xfrm>
            <a:off x="4572000" y="1677450"/>
            <a:ext cx="3855300" cy="1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4572000" y="3373675"/>
            <a:ext cx="3623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Credits: </a:t>
            </a:r>
            <a:r>
              <a:rPr lang="en" sz="12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6117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000" y="1187700"/>
            <a:ext cx="771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●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○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■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●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○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■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●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○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Char char="■"/>
              <a:defRPr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buNone/>
              <a:defRPr sz="1000" b="1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8" r:id="rId5"/>
    <p:sldLayoutId id="2147483659" r:id="rId6"/>
    <p:sldLayoutId id="2147483660" r:id="rId7"/>
    <p:sldLayoutId id="2147483663" r:id="rId8"/>
    <p:sldLayoutId id="2147483664" r:id="rId9"/>
    <p:sldLayoutId id="2147483666" r:id="rId10"/>
    <p:sldLayoutId id="2147483669" r:id="rId11"/>
    <p:sldLayoutId id="2147483672" r:id="rId12"/>
    <p:sldLayoutId id="2147483676" r:id="rId13"/>
    <p:sldLayoutId id="2147483677" r:id="rId14"/>
    <p:sldLayoutId id="214748368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636773" y="928806"/>
            <a:ext cx="724500" cy="7245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ctrTitle"/>
          </p:nvPr>
        </p:nvSpPr>
        <p:spPr>
          <a:xfrm>
            <a:off x="714000" y="902256"/>
            <a:ext cx="4086600" cy="19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smtClean="0">
                <a:solidFill>
                  <a:srgbClr val="5CFFA6"/>
                </a:solidFill>
              </a:rPr>
              <a:t>PROPOSAL</a:t>
            </a:r>
            <a:br>
              <a:rPr lang="en" dirty="0" smtClean="0">
                <a:solidFill>
                  <a:srgbClr val="5CFFA6"/>
                </a:solidFill>
              </a:rPr>
            </a:br>
            <a:r>
              <a:rPr lang="en-ID" sz="1400" b="1" dirty="0" smtClean="0"/>
              <a:t/>
            </a:r>
            <a:br>
              <a:rPr lang="en-ID" sz="1400" b="1" dirty="0" smtClean="0"/>
            </a:br>
            <a:r>
              <a:rPr lang="en-ID" sz="1400" b="1" dirty="0"/>
              <a:t>A</a:t>
            </a:r>
            <a:r>
              <a:rPr lang="en-ID" sz="1400" b="1" dirty="0" smtClean="0"/>
              <a:t>PLIKASI </a:t>
            </a:r>
            <a:r>
              <a:rPr lang="en-ID" sz="1400" b="1" dirty="0"/>
              <a:t>FORUM TRANSLASI </a:t>
            </a:r>
            <a:r>
              <a:rPr lang="en-ID" sz="1400" b="1" dirty="0">
                <a:solidFill>
                  <a:schemeClr val="accent5"/>
                </a:solidFill>
              </a:rPr>
              <a:t>BAHASA INDONESIA-MANADO</a:t>
            </a:r>
            <a:r>
              <a:rPr lang="en-ID" sz="1400" b="1" dirty="0"/>
              <a:t> BERBASIS WEB MENGGUNAKAN METODE </a:t>
            </a:r>
            <a:r>
              <a:rPr lang="en-ID" sz="1400" b="1" i="1" dirty="0">
                <a:solidFill>
                  <a:srgbClr val="60FCA4"/>
                </a:solidFill>
              </a:rPr>
              <a:t>EXTREME PROGRAMMING (XP)</a:t>
            </a:r>
            <a:endParaRPr lang="en-ID" sz="3600" dirty="0">
              <a:solidFill>
                <a:srgbClr val="60FCA4"/>
              </a:solidFill>
            </a:endParaRPr>
          </a:p>
        </p:txBody>
      </p:sp>
      <p:cxnSp>
        <p:nvCxnSpPr>
          <p:cNvPr id="271" name="Google Shape;271;p35"/>
          <p:cNvCxnSpPr/>
          <p:nvPr/>
        </p:nvCxnSpPr>
        <p:spPr>
          <a:xfrm>
            <a:off x="827584" y="2859782"/>
            <a:ext cx="2232248" cy="0"/>
          </a:xfrm>
          <a:prstGeom prst="straightConnector1">
            <a:avLst/>
          </a:prstGeom>
          <a:noFill/>
          <a:ln w="19050" cap="flat" cmpd="sng">
            <a:solidFill>
              <a:srgbClr val="5CFFF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35"/>
          <p:cNvSpPr/>
          <p:nvPr/>
        </p:nvSpPr>
        <p:spPr>
          <a:xfrm>
            <a:off x="5396925" y="1021200"/>
            <a:ext cx="3030300" cy="3101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5"/>
          <p:cNvSpPr/>
          <p:nvPr/>
        </p:nvSpPr>
        <p:spPr>
          <a:xfrm>
            <a:off x="7515500" y="-1188125"/>
            <a:ext cx="2810100" cy="28101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5"/>
          <p:cNvSpPr/>
          <p:nvPr/>
        </p:nvSpPr>
        <p:spPr>
          <a:xfrm>
            <a:off x="7992250" y="-711375"/>
            <a:ext cx="1856700" cy="185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86008" y="3277620"/>
            <a:ext cx="3858000" cy="442800"/>
          </a:xfrm>
        </p:spPr>
        <p:txBody>
          <a:bodyPr/>
          <a:lstStyle/>
          <a:p>
            <a:r>
              <a:rPr lang="en-US" dirty="0" smtClean="0"/>
              <a:t>ABIMANYU MARVIE DWISUPRAPTO</a:t>
            </a:r>
            <a:endParaRPr lang="en-ID" dirty="0"/>
          </a:p>
        </p:txBody>
      </p:sp>
      <p:pic>
        <p:nvPicPr>
          <p:cNvPr id="67" name="Picture 6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055" y="1490662"/>
            <a:ext cx="2098040" cy="2162175"/>
          </a:xfrm>
          <a:prstGeom prst="rect">
            <a:avLst/>
          </a:prstGeom>
        </p:spPr>
      </p:pic>
      <p:sp>
        <p:nvSpPr>
          <p:cNvPr id="73" name="Subtitle 1"/>
          <p:cNvSpPr txBox="1">
            <a:spLocks/>
          </p:cNvSpPr>
          <p:nvPr/>
        </p:nvSpPr>
        <p:spPr>
          <a:xfrm>
            <a:off x="786008" y="3713126"/>
            <a:ext cx="38580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Semi Condensed Medium"/>
              <a:buNone/>
              <a:defRPr sz="18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 dirty="0" smtClean="0"/>
              <a:t>18210008</a:t>
            </a:r>
            <a:endParaRPr lang="en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/>
          <p:nvPr/>
        </p:nvSpPr>
        <p:spPr>
          <a:xfrm>
            <a:off x="3919525" y="839428"/>
            <a:ext cx="1304400" cy="13044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9"/>
          <p:cNvSpPr txBox="1">
            <a:spLocks noGrp="1"/>
          </p:cNvSpPr>
          <p:nvPr>
            <p:ph type="title"/>
          </p:nvPr>
        </p:nvSpPr>
        <p:spPr>
          <a:xfrm>
            <a:off x="2312425" y="2316938"/>
            <a:ext cx="45186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lt1"/>
                </a:solidFill>
              </a:rPr>
              <a:t>Introduction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80" name="Google Shape;380;p39"/>
          <p:cNvSpPr txBox="1">
            <a:spLocks noGrp="1"/>
          </p:cNvSpPr>
          <p:nvPr>
            <p:ph type="subTitle" idx="1"/>
          </p:nvPr>
        </p:nvSpPr>
        <p:spPr>
          <a:xfrm>
            <a:off x="2312425" y="3702318"/>
            <a:ext cx="45186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1" name="Google Shape;381;p39"/>
          <p:cNvSpPr txBox="1">
            <a:spLocks noGrp="1"/>
          </p:cNvSpPr>
          <p:nvPr>
            <p:ph type="title" idx="2"/>
          </p:nvPr>
        </p:nvSpPr>
        <p:spPr>
          <a:xfrm>
            <a:off x="3987775" y="1106278"/>
            <a:ext cx="1167900" cy="7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2" name="Google Shape;382;p39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/>
          <p:nvPr/>
        </p:nvSpPr>
        <p:spPr>
          <a:xfrm>
            <a:off x="1261885" y="1419622"/>
            <a:ext cx="884700" cy="8850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3"/>
          <p:cNvSpPr/>
          <p:nvPr/>
        </p:nvSpPr>
        <p:spPr>
          <a:xfrm>
            <a:off x="4795435" y="1419622"/>
            <a:ext cx="884700" cy="885000"/>
          </a:xfrm>
          <a:prstGeom prst="ellipse">
            <a:avLst/>
          </a:prstGeom>
          <a:solidFill>
            <a:srgbClr val="FDFF5C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3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Latar Belakang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87" name="Google Shape;487;p43"/>
          <p:cNvSpPr txBox="1">
            <a:spLocks noGrp="1"/>
          </p:cNvSpPr>
          <p:nvPr>
            <p:ph type="title" idx="3"/>
          </p:nvPr>
        </p:nvSpPr>
        <p:spPr>
          <a:xfrm>
            <a:off x="4704344" y="2374449"/>
            <a:ext cx="29640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Corpus</a:t>
            </a:r>
            <a:endParaRPr i="1" dirty="0"/>
          </a:p>
        </p:txBody>
      </p:sp>
      <p:sp>
        <p:nvSpPr>
          <p:cNvPr id="488" name="Google Shape;488;p43"/>
          <p:cNvSpPr txBox="1">
            <a:spLocks noGrp="1"/>
          </p:cNvSpPr>
          <p:nvPr>
            <p:ph type="title" idx="2"/>
          </p:nvPr>
        </p:nvSpPr>
        <p:spPr>
          <a:xfrm>
            <a:off x="1187624" y="2374449"/>
            <a:ext cx="29640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Bahasa Manado,</a:t>
            </a:r>
            <a:endParaRPr dirty="0"/>
          </a:p>
        </p:txBody>
      </p:sp>
      <p:sp>
        <p:nvSpPr>
          <p:cNvPr id="489" name="Google Shape;489;p43"/>
          <p:cNvSpPr txBox="1">
            <a:spLocks noGrp="1"/>
          </p:cNvSpPr>
          <p:nvPr>
            <p:ph type="subTitle" idx="1"/>
          </p:nvPr>
        </p:nvSpPr>
        <p:spPr>
          <a:xfrm>
            <a:off x="1170786" y="2931790"/>
            <a:ext cx="3113181" cy="12519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Digunakan sehari-hari oleh masyarakat Sulawesi Utara khususnya daerah Manado dan Sekitarnya. Meski tercatat digunakan oleh sekitar 3.320.000 orang, sumber teks berupa artikel berita maupun terbitan sastra  berbahasa Manado masih sangat sedikit.</a:t>
            </a:r>
            <a:endParaRPr dirty="0"/>
          </a:p>
        </p:txBody>
      </p:sp>
      <p:sp>
        <p:nvSpPr>
          <p:cNvPr id="490" name="Google Shape;490;p43"/>
          <p:cNvSpPr txBox="1">
            <a:spLocks noGrp="1"/>
          </p:cNvSpPr>
          <p:nvPr>
            <p:ph type="subTitle" idx="4"/>
          </p:nvPr>
        </p:nvSpPr>
        <p:spPr>
          <a:xfrm>
            <a:off x="4716016" y="2831949"/>
            <a:ext cx="3252039" cy="16840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Sedikitnya sumber data teks maupun audio menyulitkan pengembangan </a:t>
            </a:r>
            <a:r>
              <a:rPr lang="en" i="1" dirty="0" smtClean="0"/>
              <a:t>Corpus </a:t>
            </a:r>
            <a:r>
              <a:rPr lang="en" dirty="0" smtClean="0"/>
              <a:t>berbahasa Manado, dimana </a:t>
            </a:r>
            <a:r>
              <a:rPr lang="en" i="1" dirty="0" smtClean="0"/>
              <a:t>Corpus </a:t>
            </a:r>
            <a:r>
              <a:rPr lang="en" dirty="0" smtClean="0"/>
              <a:t>sendiri dapat dijadikan sumber data untuk pengembangan </a:t>
            </a:r>
            <a:r>
              <a:rPr lang="en" i="1" dirty="0" smtClean="0"/>
              <a:t>NLP (Natural Processing Language)</a:t>
            </a:r>
            <a:r>
              <a:rPr lang="en" dirty="0" smtClean="0"/>
              <a:t> yang dapat berguna dan bermanfaat untuk masyarakat penutur asli bahasa Manado</a:t>
            </a:r>
            <a:endParaRPr dirty="0"/>
          </a:p>
        </p:txBody>
      </p:sp>
      <p:sp>
        <p:nvSpPr>
          <p:cNvPr id="491" name="Google Shape;491;p43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2" name="Google Shape;6811;p83"/>
          <p:cNvSpPr/>
          <p:nvPr/>
        </p:nvSpPr>
        <p:spPr>
          <a:xfrm>
            <a:off x="5080401" y="1657812"/>
            <a:ext cx="314767" cy="371814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rgbClr val="FFFC5C"/>
          </a:solidFill>
          <a:ln>
            <a:solidFill>
              <a:schemeClr val="bg2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6815;p83"/>
          <p:cNvGrpSpPr/>
          <p:nvPr/>
        </p:nvGrpSpPr>
        <p:grpSpPr>
          <a:xfrm>
            <a:off x="1518795" y="1693244"/>
            <a:ext cx="370879" cy="337755"/>
            <a:chOff x="-40378075" y="3267450"/>
            <a:chExt cx="317425" cy="289075"/>
          </a:xfrm>
          <a:solidFill>
            <a:srgbClr val="60FCA4"/>
          </a:solidFill>
        </p:grpSpPr>
        <p:sp>
          <p:nvSpPr>
            <p:cNvPr id="24" name="Google Shape;6816;p83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817;p83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818;p83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19;p83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3674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/>
          <p:nvPr/>
        </p:nvSpPr>
        <p:spPr>
          <a:xfrm>
            <a:off x="1261885" y="1419622"/>
            <a:ext cx="884700" cy="885000"/>
          </a:xfrm>
          <a:prstGeom prst="ellipse">
            <a:avLst/>
          </a:prstGeom>
          <a:solidFill>
            <a:srgbClr val="955DFF">
              <a:alpha val="4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3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Latar Belakang (cont’d)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88" name="Google Shape;488;p43"/>
          <p:cNvSpPr txBox="1">
            <a:spLocks noGrp="1"/>
          </p:cNvSpPr>
          <p:nvPr>
            <p:ph type="title" idx="2"/>
          </p:nvPr>
        </p:nvSpPr>
        <p:spPr>
          <a:xfrm>
            <a:off x="1187624" y="2374449"/>
            <a:ext cx="29640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Platform</a:t>
            </a:r>
            <a:r>
              <a:rPr lang="en" dirty="0" smtClean="0"/>
              <a:t>,</a:t>
            </a:r>
            <a:endParaRPr dirty="0"/>
          </a:p>
        </p:txBody>
      </p:sp>
      <p:sp>
        <p:nvSpPr>
          <p:cNvPr id="489" name="Google Shape;489;p43"/>
          <p:cNvSpPr txBox="1">
            <a:spLocks noGrp="1"/>
          </p:cNvSpPr>
          <p:nvPr>
            <p:ph type="subTitle" idx="1"/>
          </p:nvPr>
        </p:nvSpPr>
        <p:spPr>
          <a:xfrm>
            <a:off x="1170786" y="2787774"/>
            <a:ext cx="3401214" cy="12519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Selain kurangnya sumber teks berupa berita maupun sastra, tidak ada pula </a:t>
            </a:r>
            <a:r>
              <a:rPr lang="en" i="1" dirty="0" smtClean="0"/>
              <a:t>platform</a:t>
            </a:r>
            <a:r>
              <a:rPr lang="en" dirty="0" smtClean="0"/>
              <a:t> yang dapat menjadi tempat khusus untuk </a:t>
            </a:r>
            <a:r>
              <a:rPr lang="en" i="1" dirty="0" smtClean="0"/>
              <a:t>native speaker</a:t>
            </a:r>
            <a:r>
              <a:rPr lang="en" dirty="0" smtClean="0"/>
              <a:t> bahasa Manado saling berbagi pengetahuan mereka terhadap bahasa Manado.</a:t>
            </a:r>
            <a:endParaRPr dirty="0"/>
          </a:p>
        </p:txBody>
      </p:sp>
      <p:sp>
        <p:nvSpPr>
          <p:cNvPr id="491" name="Google Shape;491;p43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3" name="Google Shape;484;p43"/>
          <p:cNvSpPr/>
          <p:nvPr/>
        </p:nvSpPr>
        <p:spPr>
          <a:xfrm>
            <a:off x="4862285" y="1419622"/>
            <a:ext cx="884700" cy="885000"/>
          </a:xfrm>
          <a:prstGeom prst="ellipse">
            <a:avLst/>
          </a:prstGeom>
          <a:solidFill>
            <a:srgbClr val="FF5C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488;p43"/>
          <p:cNvSpPr txBox="1">
            <a:spLocks noGrp="1"/>
          </p:cNvSpPr>
          <p:nvPr>
            <p:ph type="title" idx="2"/>
          </p:nvPr>
        </p:nvSpPr>
        <p:spPr>
          <a:xfrm>
            <a:off x="4788024" y="2374449"/>
            <a:ext cx="29640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Web Forum</a:t>
            </a:r>
            <a:r>
              <a:rPr lang="en" dirty="0" smtClean="0"/>
              <a:t>,</a:t>
            </a:r>
            <a:endParaRPr dirty="0"/>
          </a:p>
        </p:txBody>
      </p:sp>
      <p:sp>
        <p:nvSpPr>
          <p:cNvPr id="35" name="Google Shape;489;p43"/>
          <p:cNvSpPr txBox="1">
            <a:spLocks noGrp="1"/>
          </p:cNvSpPr>
          <p:nvPr>
            <p:ph type="subTitle" idx="1"/>
          </p:nvPr>
        </p:nvSpPr>
        <p:spPr>
          <a:xfrm>
            <a:off x="4843194" y="2787774"/>
            <a:ext cx="3257198" cy="11521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 smtClean="0"/>
              <a:t>Sedikitnya </a:t>
            </a:r>
            <a:r>
              <a:rPr lang="en" i="1" dirty="0" smtClean="0"/>
              <a:t>platform </a:t>
            </a:r>
            <a:r>
              <a:rPr lang="en" dirty="0" smtClean="0"/>
              <a:t> yang tersedia, memunculkan urgensi untuk mengembangkan sebuah </a:t>
            </a:r>
            <a:r>
              <a:rPr lang="en" i="1" dirty="0" smtClean="0"/>
              <a:t>platform </a:t>
            </a:r>
            <a:r>
              <a:rPr lang="en" dirty="0" smtClean="0"/>
              <a:t>baru, dan dalam penelitian ini dipilih “</a:t>
            </a:r>
            <a:r>
              <a:rPr lang="en-ID" dirty="0" err="1" smtClean="0"/>
              <a:t>Aplikasi</a:t>
            </a:r>
            <a:r>
              <a:rPr lang="en-ID" dirty="0" smtClean="0"/>
              <a:t> </a:t>
            </a:r>
            <a:r>
              <a:rPr lang="en-ID" dirty="0"/>
              <a:t>Forum </a:t>
            </a:r>
            <a:r>
              <a:rPr lang="en-ID" dirty="0" err="1"/>
              <a:t>Translasi</a:t>
            </a:r>
            <a:r>
              <a:rPr lang="en-ID" dirty="0"/>
              <a:t> Bahasa Indonesia-Manado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smtClean="0"/>
              <a:t>Web”</a:t>
            </a:r>
            <a:endParaRPr dirty="0"/>
          </a:p>
        </p:txBody>
      </p:sp>
      <p:grpSp>
        <p:nvGrpSpPr>
          <p:cNvPr id="36" name="Google Shape;8482;p86"/>
          <p:cNvGrpSpPr/>
          <p:nvPr/>
        </p:nvGrpSpPr>
        <p:grpSpPr>
          <a:xfrm>
            <a:off x="5126532" y="1705002"/>
            <a:ext cx="356205" cy="314240"/>
            <a:chOff x="-45674075" y="3586425"/>
            <a:chExt cx="300900" cy="26545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7" name="Google Shape;8483;p86"/>
            <p:cNvSpPr/>
            <p:nvPr/>
          </p:nvSpPr>
          <p:spPr>
            <a:xfrm>
              <a:off x="-45674075" y="3586425"/>
              <a:ext cx="300125" cy="70925"/>
            </a:xfrm>
            <a:custGeom>
              <a:avLst/>
              <a:gdLst/>
              <a:ahLst/>
              <a:cxnLst/>
              <a:rect l="l" t="t" r="r" b="b"/>
              <a:pathLst>
                <a:path w="12005" h="2837" extrusionOk="0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484;p86"/>
            <p:cNvSpPr/>
            <p:nvPr/>
          </p:nvSpPr>
          <p:spPr>
            <a:xfrm>
              <a:off x="-45673275" y="3675425"/>
              <a:ext cx="300100" cy="176450"/>
            </a:xfrm>
            <a:custGeom>
              <a:avLst/>
              <a:gdLst/>
              <a:ahLst/>
              <a:cxnLst/>
              <a:rect l="l" t="t" r="r" b="b"/>
              <a:pathLst>
                <a:path w="12004" h="7058" extrusionOk="0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8417;p86"/>
          <p:cNvGrpSpPr/>
          <p:nvPr/>
        </p:nvGrpSpPr>
        <p:grpSpPr>
          <a:xfrm>
            <a:off x="1548047" y="1683324"/>
            <a:ext cx="312375" cy="357596"/>
            <a:chOff x="-44895900" y="3929450"/>
            <a:chExt cx="263875" cy="302075"/>
          </a:xfrm>
          <a:solidFill>
            <a:srgbClr val="955DFF"/>
          </a:solidFill>
        </p:grpSpPr>
        <p:sp>
          <p:nvSpPr>
            <p:cNvPr id="40" name="Google Shape;8418;p86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419;p86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420;p86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421;p86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422;p86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423;p86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2490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/>
          <p:nvPr/>
        </p:nvSpPr>
        <p:spPr>
          <a:xfrm>
            <a:off x="2787792" y="1871085"/>
            <a:ext cx="663900" cy="663900"/>
          </a:xfrm>
          <a:prstGeom prst="ellipse">
            <a:avLst/>
          </a:prstGeom>
          <a:solidFill>
            <a:srgbClr val="FDFF5C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7"/>
          <p:cNvSpPr/>
          <p:nvPr/>
        </p:nvSpPr>
        <p:spPr>
          <a:xfrm>
            <a:off x="6731004" y="1871085"/>
            <a:ext cx="663900" cy="663900"/>
          </a:xfrm>
          <a:prstGeom prst="ellipse">
            <a:avLst/>
          </a:prstGeom>
          <a:solidFill>
            <a:srgbClr val="955CFF">
              <a:alpha val="236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4756709" y="1871085"/>
            <a:ext cx="663900" cy="663900"/>
          </a:xfrm>
          <a:prstGeom prst="ellipse">
            <a:avLst/>
          </a:prstGeom>
          <a:solidFill>
            <a:srgbClr val="5CFFF8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7"/>
          <p:cNvSpPr/>
          <p:nvPr/>
        </p:nvSpPr>
        <p:spPr>
          <a:xfrm>
            <a:off x="819723" y="1871085"/>
            <a:ext cx="663900" cy="6639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title" idx="3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Identifikasi Masalah</a:t>
            </a:r>
            <a:endParaRPr dirty="0"/>
          </a:p>
        </p:txBody>
      </p:sp>
      <p:sp>
        <p:nvSpPr>
          <p:cNvPr id="349" name="Google Shape;349;p37"/>
          <p:cNvSpPr txBox="1">
            <a:spLocks noGrp="1"/>
          </p:cNvSpPr>
          <p:nvPr>
            <p:ph type="subTitle" idx="1"/>
          </p:nvPr>
        </p:nvSpPr>
        <p:spPr>
          <a:xfrm>
            <a:off x="683568" y="2787774"/>
            <a:ext cx="1801800" cy="720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Artikel berita berbahasa Manado sangat sedikit dan hampir tidak ada</a:t>
            </a:r>
            <a:endParaRPr dirty="0"/>
          </a:p>
        </p:txBody>
      </p:sp>
      <p:sp>
        <p:nvSpPr>
          <p:cNvPr id="350" name="Google Shape;350;p37"/>
          <p:cNvSpPr txBox="1">
            <a:spLocks noGrp="1"/>
          </p:cNvSpPr>
          <p:nvPr>
            <p:ph type="title" idx="2"/>
          </p:nvPr>
        </p:nvSpPr>
        <p:spPr>
          <a:xfrm>
            <a:off x="819723" y="1974285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53" name="Google Shape;353;p37"/>
          <p:cNvSpPr txBox="1">
            <a:spLocks noGrp="1"/>
          </p:cNvSpPr>
          <p:nvPr>
            <p:ph type="title" idx="6"/>
          </p:nvPr>
        </p:nvSpPr>
        <p:spPr>
          <a:xfrm>
            <a:off x="2787792" y="1974435"/>
            <a:ext cx="663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6" name="Google Shape;356;p37"/>
          <p:cNvSpPr txBox="1">
            <a:spLocks noGrp="1"/>
          </p:cNvSpPr>
          <p:nvPr>
            <p:ph type="title" idx="9"/>
          </p:nvPr>
        </p:nvSpPr>
        <p:spPr>
          <a:xfrm>
            <a:off x="4756709" y="1974285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9" name="Google Shape;359;p37"/>
          <p:cNvSpPr txBox="1">
            <a:spLocks noGrp="1"/>
          </p:cNvSpPr>
          <p:nvPr>
            <p:ph type="title" idx="15"/>
          </p:nvPr>
        </p:nvSpPr>
        <p:spPr>
          <a:xfrm>
            <a:off x="6731004" y="1974285"/>
            <a:ext cx="663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60" name="Google Shape;360;p37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6" name="Google Shape;349;p37"/>
          <p:cNvSpPr txBox="1">
            <a:spLocks noGrp="1"/>
          </p:cNvSpPr>
          <p:nvPr>
            <p:ph type="subTitle" idx="1"/>
          </p:nvPr>
        </p:nvSpPr>
        <p:spPr>
          <a:xfrm>
            <a:off x="2698192" y="2715766"/>
            <a:ext cx="1801800" cy="16561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 smtClean="0"/>
              <a:t>Tidak ada platform bagi penutur bahasa Indonesia-Manado untuk membagikan pemahaman dan pengetahuan mengenai bahasa manado</a:t>
            </a:r>
            <a:endParaRPr dirty="0"/>
          </a:p>
        </p:txBody>
      </p:sp>
      <p:sp>
        <p:nvSpPr>
          <p:cNvPr id="28" name="Google Shape;349;p37"/>
          <p:cNvSpPr txBox="1">
            <a:spLocks noGrp="1"/>
          </p:cNvSpPr>
          <p:nvPr>
            <p:ph type="subTitle" idx="1"/>
          </p:nvPr>
        </p:nvSpPr>
        <p:spPr>
          <a:xfrm>
            <a:off x="4714416" y="2643758"/>
            <a:ext cx="1801800" cy="720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 smtClean="0"/>
              <a:t>Sumber data teks untuk bahasa Manado masih sangat kurang</a:t>
            </a:r>
            <a:endParaRPr dirty="0"/>
          </a:p>
        </p:txBody>
      </p:sp>
      <p:sp>
        <p:nvSpPr>
          <p:cNvPr id="29" name="Google Shape;349;p37"/>
          <p:cNvSpPr txBox="1">
            <a:spLocks noGrp="1"/>
          </p:cNvSpPr>
          <p:nvPr>
            <p:ph type="subTitle" idx="1"/>
          </p:nvPr>
        </p:nvSpPr>
        <p:spPr>
          <a:xfrm>
            <a:off x="6658632" y="2787774"/>
            <a:ext cx="2089832" cy="15121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smtClean="0"/>
              <a:t>B</a:t>
            </a:r>
            <a:r>
              <a:rPr lang="en" dirty="0" smtClean="0"/>
              <a:t>ahasa Manado termasuk dalam kategori </a:t>
            </a:r>
            <a:r>
              <a:rPr lang="en" i="1" dirty="0" smtClean="0"/>
              <a:t>low-resource language</a:t>
            </a:r>
            <a:r>
              <a:rPr lang="en" dirty="0" smtClean="0"/>
              <a:t> yang menyebabkan teknologi </a:t>
            </a:r>
            <a:r>
              <a:rPr lang="en" i="1" dirty="0" smtClean="0"/>
              <a:t>AI</a:t>
            </a:r>
            <a:r>
              <a:rPr lang="en" dirty="0" smtClean="0"/>
              <a:t> seperti </a:t>
            </a:r>
            <a:r>
              <a:rPr lang="en" i="1" dirty="0" smtClean="0"/>
              <a:t>NLP</a:t>
            </a:r>
            <a:r>
              <a:rPr lang="en" dirty="0" smtClean="0"/>
              <a:t> sulit untuk memaksimalkan pengolahan bahasa Manado.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22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2"/>
          <p:cNvSpPr txBox="1">
            <a:spLocks noGrp="1"/>
          </p:cNvSpPr>
          <p:nvPr>
            <p:ph type="title"/>
          </p:nvPr>
        </p:nvSpPr>
        <p:spPr>
          <a:xfrm>
            <a:off x="714000" y="1460947"/>
            <a:ext cx="3578400" cy="12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RUMUSAN</a:t>
            </a:r>
            <a:br>
              <a:rPr lang="en" dirty="0" smtClean="0"/>
            </a:br>
            <a:r>
              <a:rPr lang="en" dirty="0" smtClean="0"/>
              <a:t>MASALAH</a:t>
            </a:r>
            <a:endParaRPr dirty="0"/>
          </a:p>
        </p:txBody>
      </p:sp>
      <p:sp>
        <p:nvSpPr>
          <p:cNvPr id="1062" name="Google Shape;1062;p62"/>
          <p:cNvSpPr txBox="1">
            <a:spLocks noGrp="1"/>
          </p:cNvSpPr>
          <p:nvPr>
            <p:ph type="subTitle" idx="1"/>
          </p:nvPr>
        </p:nvSpPr>
        <p:spPr>
          <a:xfrm>
            <a:off x="740344" y="2427734"/>
            <a:ext cx="3687640" cy="15835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err="1" smtClean="0"/>
              <a:t>Bagaimana</a:t>
            </a:r>
            <a:r>
              <a:rPr lang="en-ID" dirty="0" smtClean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Web Forum </a:t>
            </a:r>
            <a:r>
              <a:rPr lang="en-ID" dirty="0" err="1"/>
              <a:t>Translasi</a:t>
            </a:r>
            <a:r>
              <a:rPr lang="en-ID" dirty="0"/>
              <a:t> Bahasa Indonesia-Manado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“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berbagi</a:t>
            </a:r>
            <a:r>
              <a:rPr lang="en-ID" dirty="0"/>
              <a:t>”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penutur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Indonesia-Manado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data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berbahasa</a:t>
            </a:r>
            <a:r>
              <a:rPr lang="en-ID" dirty="0"/>
              <a:t> Manado?</a:t>
            </a:r>
            <a:endParaRPr dirty="0"/>
          </a:p>
        </p:txBody>
      </p:sp>
      <p:cxnSp>
        <p:nvCxnSpPr>
          <p:cNvPr id="1065" name="Google Shape;1065;p62"/>
          <p:cNvCxnSpPr/>
          <p:nvPr/>
        </p:nvCxnSpPr>
        <p:spPr>
          <a:xfrm>
            <a:off x="2721544" y="2355726"/>
            <a:ext cx="13464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6" name="Google Shape;1066;p62"/>
          <p:cNvSpPr/>
          <p:nvPr/>
        </p:nvSpPr>
        <p:spPr>
          <a:xfrm>
            <a:off x="-448750" y="-622150"/>
            <a:ext cx="1836900" cy="18369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62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" name="Google Shape;7785;p85"/>
          <p:cNvSpPr/>
          <p:nvPr/>
        </p:nvSpPr>
        <p:spPr>
          <a:xfrm>
            <a:off x="5169254" y="1132200"/>
            <a:ext cx="2879100" cy="2879100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rgbClr val="60FC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30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Batasan Masalah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91" name="Google Shape;491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259632" y="1419622"/>
            <a:ext cx="2964000" cy="2952328"/>
          </a:xfrm>
        </p:spPr>
        <p:txBody>
          <a:bodyPr/>
          <a:lstStyle/>
          <a:p>
            <a:pPr>
              <a:buClr>
                <a:srgbClr val="60FCA4"/>
              </a:buClr>
              <a:buFont typeface="Arial" panose="020B0604020202020204" pitchFamily="34" charset="0"/>
              <a:buChar char="•"/>
            </a:pPr>
            <a:r>
              <a:rPr lang="en-US" dirty="0" err="1" smtClean="0"/>
              <a:t>Hak</a:t>
            </a:r>
            <a:r>
              <a:rPr lang="en-US" dirty="0" smtClean="0"/>
              <a:t> </a:t>
            </a:r>
            <a:r>
              <a:rPr lang="en-US" dirty="0" err="1" smtClean="0"/>
              <a:t>mengunggah</a:t>
            </a:r>
            <a:r>
              <a:rPr lang="en-US" dirty="0" smtClean="0"/>
              <a:t> URL </a:t>
            </a:r>
            <a:r>
              <a:rPr lang="en-US" dirty="0" err="1" smtClean="0"/>
              <a:t>artikel</a:t>
            </a:r>
            <a:r>
              <a:rPr lang="en-US" dirty="0" smtClean="0"/>
              <a:t> </a:t>
            </a:r>
            <a:r>
              <a:rPr lang="en-US" dirty="0" err="1" smtClean="0"/>
              <a:t>berita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subjek</a:t>
            </a:r>
            <a:r>
              <a:rPr lang="en-US" dirty="0" smtClean="0"/>
              <a:t> </a:t>
            </a:r>
            <a:r>
              <a:rPr lang="en-US" dirty="0" err="1" smtClean="0"/>
              <a:t>translasi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diberikan</a:t>
            </a:r>
            <a:r>
              <a:rPr lang="en-US" dirty="0" smtClean="0"/>
              <a:t> </a:t>
            </a:r>
            <a:r>
              <a:rPr lang="en-US" dirty="0" err="1" smtClean="0"/>
              <a:t>kepada</a:t>
            </a:r>
            <a:r>
              <a:rPr lang="en-US" dirty="0" smtClean="0"/>
              <a:t> admin</a:t>
            </a:r>
          </a:p>
          <a:p>
            <a:pPr lvl="0">
              <a:buClr>
                <a:srgbClr val="60FCA4"/>
              </a:buClr>
              <a:buFont typeface="Arial" panose="020B0604020202020204" pitchFamily="34" charset="0"/>
              <a:buChar char="•"/>
            </a:pPr>
            <a:r>
              <a:rPr lang="en-ID" dirty="0" err="1"/>
              <a:t>Aplikasi</a:t>
            </a:r>
            <a:r>
              <a:rPr lang="en-ID" dirty="0"/>
              <a:t> forum yang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dibekali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mengolah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i="1" dirty="0"/>
              <a:t>User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mengolah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translasi</a:t>
            </a:r>
            <a:r>
              <a:rPr lang="en-ID" dirty="0"/>
              <a:t> </a:t>
            </a:r>
            <a:r>
              <a:rPr lang="en-ID" dirty="0" err="1"/>
              <a:t>selain</a:t>
            </a:r>
            <a:r>
              <a:rPr lang="en-ID" dirty="0"/>
              <a:t> </a:t>
            </a:r>
            <a:r>
              <a:rPr lang="en-ID" dirty="0" err="1"/>
              <a:t>diunduh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format </a:t>
            </a:r>
            <a:r>
              <a:rPr lang="en-ID" i="1" dirty="0"/>
              <a:t>.</a:t>
            </a:r>
            <a:r>
              <a:rPr lang="en-ID" i="1" dirty="0" err="1" smtClean="0"/>
              <a:t>xlsx</a:t>
            </a:r>
            <a:endParaRPr lang="en-ID" i="1" dirty="0" smtClean="0"/>
          </a:p>
          <a:p>
            <a:pPr>
              <a:buClr>
                <a:srgbClr val="60FCA4"/>
              </a:buClr>
              <a:buFont typeface="Arial" panose="020B0604020202020204" pitchFamily="34" charset="0"/>
              <a:buChar char="•"/>
            </a:pPr>
            <a:r>
              <a:rPr lang="en-ID" i="1" dirty="0"/>
              <a:t>User </a:t>
            </a:r>
            <a:r>
              <a:rPr lang="en-ID" dirty="0" err="1"/>
              <a:t>dibatasi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</a:t>
            </a:r>
            <a:r>
              <a:rPr lang="en-ID" dirty="0" err="1"/>
              <a:t>translasi</a:t>
            </a:r>
            <a:endParaRPr lang="en-ID" dirty="0"/>
          </a:p>
          <a:p>
            <a:pPr lvl="0">
              <a:buClr>
                <a:srgbClr val="60FCA4"/>
              </a:buClr>
              <a:buFont typeface="Arial" panose="020B0604020202020204" pitchFamily="34" charset="0"/>
              <a:buChar char="•"/>
            </a:pP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endParaRPr lang="en-ID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4"/>
          </p:nvPr>
        </p:nvSpPr>
        <p:spPr>
          <a:xfrm>
            <a:off x="4488320" y="1347614"/>
            <a:ext cx="2964000" cy="2664296"/>
          </a:xfrm>
        </p:spPr>
        <p:txBody>
          <a:bodyPr/>
          <a:lstStyle/>
          <a:p>
            <a:pPr marL="425450" indent="-285750">
              <a:buClr>
                <a:srgbClr val="60FCA4"/>
              </a:buClr>
              <a:buFont typeface="Arial" panose="020B0604020202020204" pitchFamily="34" charset="0"/>
              <a:buChar char="•"/>
            </a:pPr>
            <a:r>
              <a:rPr lang="en-ID" dirty="0" err="1" smtClean="0"/>
              <a:t>Hak</a:t>
            </a:r>
            <a:r>
              <a:rPr lang="en-ID" dirty="0" smtClean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translasi</a:t>
            </a:r>
            <a:r>
              <a:rPr lang="en-ID" dirty="0"/>
              <a:t> </a:t>
            </a:r>
            <a:r>
              <a:rPr lang="en-ID" dirty="0" err="1"/>
              <a:t>oleh</a:t>
            </a:r>
            <a:r>
              <a:rPr lang="en-ID" dirty="0"/>
              <a:t> User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Validator</a:t>
            </a:r>
          </a:p>
          <a:p>
            <a:pPr marL="425450" indent="-285750">
              <a:buClr>
                <a:srgbClr val="60FCA4"/>
              </a:buClr>
              <a:buFont typeface="Arial" panose="020B0604020202020204" pitchFamily="34" charset="0"/>
              <a:buChar char="•"/>
            </a:pPr>
            <a:r>
              <a:rPr lang="en-ID" dirty="0" smtClean="0"/>
              <a:t>Validator </a:t>
            </a:r>
            <a:r>
              <a:rPr lang="en-ID" dirty="0" err="1"/>
              <a:t>selain</a:t>
            </a:r>
            <a:r>
              <a:rPr lang="en-ID" dirty="0"/>
              <a:t> </a:t>
            </a:r>
            <a:r>
              <a:rPr lang="en-ID" dirty="0" err="1"/>
              <a:t>ditetapkan</a:t>
            </a:r>
            <a:r>
              <a:rPr lang="en-ID" dirty="0"/>
              <a:t> </a:t>
            </a:r>
            <a:r>
              <a:rPr lang="en-ID" dirty="0" err="1"/>
              <a:t>oleh</a:t>
            </a:r>
            <a:r>
              <a:rPr lang="en-ID" dirty="0"/>
              <a:t> Admin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juga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User forum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yang </a:t>
            </a:r>
            <a:r>
              <a:rPr lang="en-ID" dirty="0" err="1"/>
              <a:t>ditetapkan</a:t>
            </a:r>
            <a:endParaRPr lang="en-ID" dirty="0"/>
          </a:p>
          <a:p>
            <a:pPr marL="425450" indent="-285750">
              <a:buClr>
                <a:srgbClr val="60FCA4"/>
              </a:buClr>
              <a:buFont typeface="Arial" panose="020B0604020202020204" pitchFamily="34" charset="0"/>
              <a:buChar char="•"/>
            </a:pPr>
            <a:r>
              <a:rPr lang="en-ID" dirty="0" err="1" smtClean="0"/>
              <a:t>Aplikasi</a:t>
            </a:r>
            <a:r>
              <a:rPr lang="en-ID" dirty="0" smtClean="0"/>
              <a:t> </a:t>
            </a:r>
            <a:r>
              <a:rPr lang="en-ID" dirty="0"/>
              <a:t>forum </a:t>
            </a:r>
            <a:r>
              <a:rPr lang="en-ID" dirty="0" err="1"/>
              <a:t>dikhususkan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Indonesia-Manado.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3099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Tujuan</a:t>
            </a:r>
            <a:endParaRPr dirty="0"/>
          </a:p>
        </p:txBody>
      </p:sp>
      <p:sp>
        <p:nvSpPr>
          <p:cNvPr id="568" name="Google Shape;568;p46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70" name="Google Shape;570;p46"/>
          <p:cNvSpPr/>
          <p:nvPr/>
        </p:nvSpPr>
        <p:spPr>
          <a:xfrm>
            <a:off x="3779912" y="2139702"/>
            <a:ext cx="936104" cy="936104"/>
          </a:xfrm>
          <a:prstGeom prst="ellipse">
            <a:avLst/>
          </a:prstGeom>
          <a:solidFill>
            <a:srgbClr val="955DFF">
              <a:alpha val="4598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4" name="Google Shape;574;p46"/>
          <p:cNvSpPr txBox="1"/>
          <p:nvPr/>
        </p:nvSpPr>
        <p:spPr>
          <a:xfrm>
            <a:off x="4860032" y="1923678"/>
            <a:ext cx="3528392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dirty="0" err="1" smtClean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Mengembangkan</a:t>
            </a:r>
            <a:r>
              <a:rPr lang="en-ID" dirty="0" smtClean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forum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dengan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model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aplikasi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web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sebagai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tempat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penutur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bahasa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Indonesia-Manado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berbagi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kemampuan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bahasa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untuk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menunjukkan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kemampuan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menerjemahkan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bahasa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Indonesia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ke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bahasa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Manado</a:t>
            </a:r>
            <a:endParaRPr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78" name="Google Shape;578;p46"/>
          <p:cNvSpPr txBox="1"/>
          <p:nvPr/>
        </p:nvSpPr>
        <p:spPr>
          <a:xfrm>
            <a:off x="827584" y="1995686"/>
            <a:ext cx="2808312" cy="122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ID" dirty="0" err="1" smtClean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Membantu</a:t>
            </a:r>
            <a:r>
              <a:rPr lang="en-ID" dirty="0" smtClean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mengumpulkan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sumber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teks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berbahasa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Manado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untuk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penelitian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lebih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lanjut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seperti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Pengembangan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CORPUS Linguistic </a:t>
            </a:r>
            <a:r>
              <a:rPr lang="en-ID" dirty="0" err="1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berbahasa</a:t>
            </a:r>
            <a:r>
              <a:rPr lang="en-ID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Manado</a:t>
            </a:r>
            <a:endParaRPr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grpSp>
        <p:nvGrpSpPr>
          <p:cNvPr id="21" name="Google Shape;6459;p82"/>
          <p:cNvGrpSpPr/>
          <p:nvPr/>
        </p:nvGrpSpPr>
        <p:grpSpPr>
          <a:xfrm>
            <a:off x="3995936" y="2360075"/>
            <a:ext cx="485322" cy="499707"/>
            <a:chOff x="5049725" y="1435050"/>
            <a:chExt cx="486550" cy="481850"/>
          </a:xfrm>
          <a:solidFill>
            <a:srgbClr val="965CFF"/>
          </a:solidFill>
        </p:grpSpPr>
        <p:sp>
          <p:nvSpPr>
            <p:cNvPr id="22" name="Google Shape;6460;p82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6461;p82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6462;p82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6463;p82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423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/>
          <p:nvPr/>
        </p:nvSpPr>
        <p:spPr>
          <a:xfrm>
            <a:off x="1079776" y="1494141"/>
            <a:ext cx="1208220" cy="1221625"/>
          </a:xfrm>
          <a:prstGeom prst="ellipse">
            <a:avLst/>
          </a:prstGeom>
          <a:solidFill>
            <a:srgbClr val="5CFFA6">
              <a:alpha val="4356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rgbClr val="60FCA4"/>
                </a:solidFill>
              </a:rPr>
              <a:t>1</a:t>
            </a:r>
            <a:endParaRPr sz="2800" dirty="0">
              <a:solidFill>
                <a:srgbClr val="60FCA4"/>
              </a:solidFill>
            </a:endParaRPr>
          </a:p>
        </p:txBody>
      </p:sp>
      <p:sp>
        <p:nvSpPr>
          <p:cNvPr id="437" name="Google Shape;437;p41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438" name="Google Shape;438;p41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Manfaat</a:t>
            </a:r>
            <a:endParaRPr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subTitle" idx="1"/>
          </p:nvPr>
        </p:nvSpPr>
        <p:spPr>
          <a:xfrm>
            <a:off x="597252" y="2931790"/>
            <a:ext cx="2194800" cy="720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smtClean="0"/>
              <a:t>Forum </a:t>
            </a:r>
            <a:r>
              <a:rPr lang="en-ID" dirty="0"/>
              <a:t>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mengumpulkan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berbahasa</a:t>
            </a:r>
            <a:r>
              <a:rPr lang="en-ID" dirty="0"/>
              <a:t> Manado</a:t>
            </a:r>
            <a:endParaRPr dirty="0"/>
          </a:p>
        </p:txBody>
      </p:sp>
      <p:sp>
        <p:nvSpPr>
          <p:cNvPr id="442" name="Google Shape;442;p41"/>
          <p:cNvSpPr txBox="1">
            <a:spLocks noGrp="1"/>
          </p:cNvSpPr>
          <p:nvPr>
            <p:ph type="subTitle" idx="4"/>
          </p:nvPr>
        </p:nvSpPr>
        <p:spPr>
          <a:xfrm>
            <a:off x="2855378" y="2715766"/>
            <a:ext cx="2796742" cy="15841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err="1" smtClean="0"/>
              <a:t>Penutur</a:t>
            </a:r>
            <a:r>
              <a:rPr lang="en-ID" dirty="0" smtClean="0"/>
              <a:t> </a:t>
            </a:r>
            <a:r>
              <a:rPr lang="en-ID" dirty="0" err="1"/>
              <a:t>bahasa</a:t>
            </a:r>
            <a:r>
              <a:rPr lang="en-ID" dirty="0"/>
              <a:t> Indonesia-Manado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kesempatan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memperbaiki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eja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Manado</a:t>
            </a:r>
            <a:endParaRPr dirty="0"/>
          </a:p>
        </p:txBody>
      </p:sp>
      <p:sp>
        <p:nvSpPr>
          <p:cNvPr id="444" name="Google Shape;444;p41"/>
          <p:cNvSpPr txBox="1">
            <a:spLocks noGrp="1"/>
          </p:cNvSpPr>
          <p:nvPr>
            <p:ph type="subTitle" idx="6"/>
          </p:nvPr>
        </p:nvSpPr>
        <p:spPr>
          <a:xfrm>
            <a:off x="5580112" y="2787774"/>
            <a:ext cx="2914880" cy="14401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err="1" smtClean="0"/>
              <a:t>Hasil</a:t>
            </a:r>
            <a:r>
              <a:rPr lang="en-ID" dirty="0" smtClean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berbahasa</a:t>
            </a:r>
            <a:r>
              <a:rPr lang="en-ID" dirty="0"/>
              <a:t> Manado yang </a:t>
            </a:r>
            <a:r>
              <a:rPr lang="en-ID" dirty="0" err="1"/>
              <a:t>dikumpulkan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diolah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dataset CORPUS Linguistic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, </a:t>
            </a:r>
            <a:r>
              <a:rPr lang="en-ID" dirty="0" err="1"/>
              <a:t>khususnya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Natural Language Processing (NLP).</a:t>
            </a:r>
            <a:endParaRPr dirty="0"/>
          </a:p>
        </p:txBody>
      </p:sp>
      <p:sp>
        <p:nvSpPr>
          <p:cNvPr id="446" name="Google Shape;446;p41"/>
          <p:cNvSpPr/>
          <p:nvPr/>
        </p:nvSpPr>
        <p:spPr>
          <a:xfrm>
            <a:off x="3723820" y="1494141"/>
            <a:ext cx="1208220" cy="1221625"/>
          </a:xfrm>
          <a:prstGeom prst="ellipse">
            <a:avLst/>
          </a:prstGeom>
          <a:solidFill>
            <a:srgbClr val="FDFF5C">
              <a:alpha val="4598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rgbClr val="FFFC5C"/>
                </a:solidFill>
              </a:rPr>
              <a:t>2</a:t>
            </a:r>
            <a:endParaRPr sz="2800" dirty="0">
              <a:solidFill>
                <a:srgbClr val="FFFC5C"/>
              </a:solidFill>
            </a:endParaRPr>
          </a:p>
        </p:txBody>
      </p:sp>
      <p:sp>
        <p:nvSpPr>
          <p:cNvPr id="448" name="Google Shape;448;p41"/>
          <p:cNvSpPr/>
          <p:nvPr/>
        </p:nvSpPr>
        <p:spPr>
          <a:xfrm>
            <a:off x="6460124" y="1494141"/>
            <a:ext cx="1208220" cy="1221625"/>
          </a:xfrm>
          <a:prstGeom prst="ellipse">
            <a:avLst/>
          </a:prstGeom>
          <a:solidFill>
            <a:srgbClr val="5CFFF8">
              <a:alpha val="3839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3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76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/>
          <p:nvPr/>
        </p:nvSpPr>
        <p:spPr>
          <a:xfrm>
            <a:off x="3919249" y="839428"/>
            <a:ext cx="1304400" cy="1304400"/>
          </a:xfrm>
          <a:prstGeom prst="ellipse">
            <a:avLst/>
          </a:prstGeom>
          <a:solidFill>
            <a:srgbClr val="FDFF5C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7"/>
          <p:cNvSpPr txBox="1">
            <a:spLocks noGrp="1"/>
          </p:cNvSpPr>
          <p:nvPr>
            <p:ph type="title"/>
          </p:nvPr>
        </p:nvSpPr>
        <p:spPr>
          <a:xfrm>
            <a:off x="2312700" y="2316938"/>
            <a:ext cx="45186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Metodologi Penelitian</a:t>
            </a:r>
            <a:endParaRPr dirty="0"/>
          </a:p>
        </p:txBody>
      </p:sp>
      <p:sp>
        <p:nvSpPr>
          <p:cNvPr id="587" name="Google Shape;587;p47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88" name="Google Shape;588;p47"/>
          <p:cNvSpPr txBox="1">
            <a:spLocks noGrp="1"/>
          </p:cNvSpPr>
          <p:nvPr>
            <p:ph type="subTitle" idx="1"/>
          </p:nvPr>
        </p:nvSpPr>
        <p:spPr>
          <a:xfrm>
            <a:off x="2312150" y="3780749"/>
            <a:ext cx="45186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 smtClean="0"/>
              <a:t>Extreme Programming (XP)</a:t>
            </a:r>
            <a:endParaRPr i="1" dirty="0"/>
          </a:p>
        </p:txBody>
      </p:sp>
      <p:sp>
        <p:nvSpPr>
          <p:cNvPr id="589" name="Google Shape;589;p47"/>
          <p:cNvSpPr txBox="1">
            <a:spLocks noGrp="1"/>
          </p:cNvSpPr>
          <p:nvPr>
            <p:ph type="title" idx="2"/>
          </p:nvPr>
        </p:nvSpPr>
        <p:spPr>
          <a:xfrm>
            <a:off x="3987499" y="1106278"/>
            <a:ext cx="1167900" cy="7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02</a:t>
            </a:r>
            <a:endParaRPr b="1">
              <a:solidFill>
                <a:schemeClr val="accent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28468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56" name="Google Shape;456;p42"/>
          <p:cNvSpPr txBox="1">
            <a:spLocks noGrp="1"/>
          </p:cNvSpPr>
          <p:nvPr>
            <p:ph type="title"/>
          </p:nvPr>
        </p:nvSpPr>
        <p:spPr>
          <a:xfrm>
            <a:off x="4139952" y="1318552"/>
            <a:ext cx="3128974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Extreme Programming</a:t>
            </a:r>
            <a:endParaRPr i="1" dirty="0"/>
          </a:p>
        </p:txBody>
      </p:sp>
      <p:sp>
        <p:nvSpPr>
          <p:cNvPr id="457" name="Google Shape;457;p42"/>
          <p:cNvSpPr txBox="1">
            <a:spLocks noGrp="1"/>
          </p:cNvSpPr>
          <p:nvPr>
            <p:ph type="subTitle" idx="1"/>
          </p:nvPr>
        </p:nvSpPr>
        <p:spPr>
          <a:xfrm>
            <a:off x="4139952" y="1922852"/>
            <a:ext cx="4209094" cy="23770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 smtClean="0"/>
              <a:t>Dengan mengedepankan pentingnya komunitas, kesederhanaan, umpan balik dan keberanian, </a:t>
            </a:r>
            <a:r>
              <a:rPr lang="en" i="1" dirty="0" smtClean="0"/>
              <a:t>XP</a:t>
            </a:r>
            <a:r>
              <a:rPr lang="en" dirty="0" smtClean="0"/>
              <a:t> adalah metode yang dikembangkan </a:t>
            </a:r>
            <a:r>
              <a:rPr lang="en-ID" dirty="0" err="1" smtClean="0"/>
              <a:t>untuk</a:t>
            </a:r>
            <a:r>
              <a:rPr lang="en-ID" dirty="0" smtClean="0"/>
              <a:t> </a:t>
            </a:r>
            <a:r>
              <a:rPr lang="en-ID" dirty="0" err="1" smtClean="0"/>
              <a:t>mengatasi</a:t>
            </a:r>
            <a:r>
              <a:rPr lang="en-ID" dirty="0" smtClean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dimana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pengembangannya</a:t>
            </a:r>
            <a:r>
              <a:rPr lang="en-ID" dirty="0"/>
              <a:t>, </a:t>
            </a:r>
            <a:r>
              <a:rPr lang="en-ID" dirty="0" err="1"/>
              <a:t>oleh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i="1" dirty="0"/>
              <a:t>XP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, </a:t>
            </a: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praktik</a:t>
            </a:r>
            <a:r>
              <a:rPr lang="en-ID" dirty="0"/>
              <a:t> yang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berkualitas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i="1" dirty="0"/>
              <a:t>user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secepat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endParaRPr dirty="0"/>
          </a:p>
        </p:txBody>
      </p:sp>
      <p:grpSp>
        <p:nvGrpSpPr>
          <p:cNvPr id="2" name="Group 1"/>
          <p:cNvGrpSpPr/>
          <p:nvPr/>
        </p:nvGrpSpPr>
        <p:grpSpPr>
          <a:xfrm>
            <a:off x="1209936" y="1275606"/>
            <a:ext cx="2497968" cy="2520280"/>
            <a:chOff x="1547664" y="1275606"/>
            <a:chExt cx="2497968" cy="2520280"/>
          </a:xfrm>
        </p:grpSpPr>
        <p:sp>
          <p:nvSpPr>
            <p:cNvPr id="29" name="Google Shape;436;p41"/>
            <p:cNvSpPr/>
            <p:nvPr/>
          </p:nvSpPr>
          <p:spPr>
            <a:xfrm>
              <a:off x="1547664" y="1275606"/>
              <a:ext cx="2497968" cy="2520280"/>
            </a:xfrm>
            <a:prstGeom prst="ellipse">
              <a:avLst/>
            </a:prstGeom>
            <a:solidFill>
              <a:srgbClr val="5CFFA6">
                <a:alpha val="43560"/>
              </a:srgbClr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" name="Picture 27"/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2" t="8759" r="807"/>
            <a:stretch/>
          </p:blipFill>
          <p:spPr bwMode="auto">
            <a:xfrm>
              <a:off x="1714794" y="1461645"/>
              <a:ext cx="2163707" cy="2148202"/>
            </a:xfrm>
            <a:prstGeom prst="ellipse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6672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2"/>
          <p:cNvSpPr txBox="1">
            <a:spLocks noGrp="1"/>
          </p:cNvSpPr>
          <p:nvPr>
            <p:ph type="title"/>
          </p:nvPr>
        </p:nvSpPr>
        <p:spPr>
          <a:xfrm>
            <a:off x="899592" y="884883"/>
            <a:ext cx="3672408" cy="12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Mengapa</a:t>
            </a:r>
            <a:r>
              <a:rPr lang="en-US" dirty="0" smtClean="0"/>
              <a:t> Extreme Programming?</a:t>
            </a:r>
            <a:endParaRPr dirty="0"/>
          </a:p>
        </p:txBody>
      </p:sp>
      <p:sp>
        <p:nvSpPr>
          <p:cNvPr id="1062" name="Google Shape;1062;p62"/>
          <p:cNvSpPr txBox="1">
            <a:spLocks noGrp="1"/>
          </p:cNvSpPr>
          <p:nvPr>
            <p:ph type="subTitle" idx="1"/>
          </p:nvPr>
        </p:nvSpPr>
        <p:spPr>
          <a:xfrm>
            <a:off x="899592" y="1923678"/>
            <a:ext cx="3960440" cy="23042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i="1" dirty="0" smtClean="0">
                <a:solidFill>
                  <a:srgbClr val="60FCA4"/>
                </a:solidFill>
              </a:rPr>
              <a:t>Extreme Programming</a:t>
            </a:r>
            <a:r>
              <a:rPr lang="en-US" i="1" dirty="0" smtClean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terkenal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yang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menyediakan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berkualitas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singkat</a:t>
            </a:r>
            <a:r>
              <a:rPr lang="en-US" dirty="0" smtClean="0"/>
              <a:t>, </a:t>
            </a:r>
            <a:r>
              <a:rPr lang="en-US" dirty="0" err="1" smtClean="0"/>
              <a:t>namun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60FCA4"/>
                </a:solidFill>
              </a:rPr>
              <a:t>Extreme Programming </a:t>
            </a:r>
            <a:r>
              <a:rPr lang="en-US" dirty="0" smtClean="0"/>
              <a:t>juga </a:t>
            </a:r>
            <a:r>
              <a:rPr lang="en-US" dirty="0" err="1" smtClean="0"/>
              <a:t>dikenal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yang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bergantung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tim</a:t>
            </a:r>
            <a:r>
              <a:rPr lang="en-US" dirty="0" smtClean="0"/>
              <a:t>, </a:t>
            </a:r>
            <a:r>
              <a:rPr lang="en-US" dirty="0" err="1" smtClean="0"/>
              <a:t>hal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menyulitkan</a:t>
            </a:r>
            <a:r>
              <a:rPr lang="en-US" dirty="0" smtClean="0"/>
              <a:t> </a:t>
            </a:r>
            <a:r>
              <a:rPr lang="en-US" dirty="0" err="1" smtClean="0"/>
              <a:t>apabila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pengembangan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orang yang </a:t>
            </a:r>
            <a:r>
              <a:rPr lang="en-US" dirty="0" err="1" smtClean="0"/>
              <a:t>terlibat</a:t>
            </a:r>
            <a:r>
              <a:rPr lang="en-US" dirty="0" smtClean="0"/>
              <a:t>,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ID" i="1" dirty="0">
                <a:solidFill>
                  <a:srgbClr val="60FCA4"/>
                </a:solidFill>
              </a:rPr>
              <a:t>Extreme Programming For A Single Person </a:t>
            </a:r>
            <a:r>
              <a:rPr lang="en-ID" i="1" dirty="0" smtClean="0">
                <a:solidFill>
                  <a:srgbClr val="60FCA4"/>
                </a:solidFill>
              </a:rPr>
              <a:t>Team</a:t>
            </a:r>
            <a:r>
              <a:rPr lang="en-ID" i="1" dirty="0" smtClean="0"/>
              <a:t> </a:t>
            </a:r>
            <a:r>
              <a:rPr lang="en-ID" dirty="0" err="1" smtClean="0"/>
              <a:t>akan</a:t>
            </a:r>
            <a:r>
              <a:rPr lang="en-ID" dirty="0" smtClean="0"/>
              <a:t> </a:t>
            </a:r>
            <a:r>
              <a:rPr lang="en-ID" dirty="0" err="1" smtClean="0"/>
              <a:t>diterapkan</a:t>
            </a:r>
            <a:r>
              <a:rPr lang="en-ID" dirty="0" smtClean="0"/>
              <a:t> </a:t>
            </a:r>
            <a:r>
              <a:rPr lang="en-ID" dirty="0" err="1" smtClean="0"/>
              <a:t>untuk</a:t>
            </a:r>
            <a:r>
              <a:rPr lang="en-ID" dirty="0" smtClean="0"/>
              <a:t> </a:t>
            </a:r>
            <a:r>
              <a:rPr lang="en-ID" dirty="0" err="1" smtClean="0"/>
              <a:t>mengatasi</a:t>
            </a:r>
            <a:r>
              <a:rPr lang="en-ID" dirty="0" smtClean="0"/>
              <a:t> </a:t>
            </a:r>
            <a:r>
              <a:rPr lang="en-ID" dirty="0" err="1" smtClean="0"/>
              <a:t>hal</a:t>
            </a:r>
            <a:r>
              <a:rPr lang="en-ID" dirty="0" smtClean="0"/>
              <a:t> </a:t>
            </a:r>
            <a:r>
              <a:rPr lang="en-ID" dirty="0" err="1" smtClean="0"/>
              <a:t>ini</a:t>
            </a:r>
            <a:r>
              <a:rPr lang="en-ID" dirty="0" smtClean="0"/>
              <a:t> </a:t>
            </a:r>
            <a:r>
              <a:rPr lang="en-ID" dirty="0" err="1" smtClean="0"/>
              <a:t>dengan</a:t>
            </a:r>
            <a:r>
              <a:rPr lang="en-ID" dirty="0" smtClean="0"/>
              <a:t> </a:t>
            </a:r>
            <a:r>
              <a:rPr lang="en-ID" dirty="0" err="1" smtClean="0"/>
              <a:t>tetap</a:t>
            </a:r>
            <a:r>
              <a:rPr lang="en-ID" dirty="0" smtClean="0"/>
              <a:t> </a:t>
            </a:r>
            <a:r>
              <a:rPr lang="en-ID" dirty="0" err="1" smtClean="0"/>
              <a:t>mempertahankan</a:t>
            </a:r>
            <a:r>
              <a:rPr lang="en-ID" dirty="0" smtClean="0"/>
              <a:t> </a:t>
            </a:r>
            <a:r>
              <a:rPr lang="en-ID" dirty="0" err="1" smtClean="0"/>
              <a:t>prinsip</a:t>
            </a:r>
            <a:r>
              <a:rPr lang="en-ID" dirty="0" smtClean="0"/>
              <a:t> </a:t>
            </a:r>
            <a:r>
              <a:rPr lang="en-ID" dirty="0" err="1" smtClean="0"/>
              <a:t>utama</a:t>
            </a:r>
            <a:r>
              <a:rPr lang="en-ID" dirty="0" smtClean="0"/>
              <a:t> </a:t>
            </a:r>
            <a:r>
              <a:rPr lang="en-ID" dirty="0" err="1" smtClean="0"/>
              <a:t>dalam</a:t>
            </a:r>
            <a:r>
              <a:rPr lang="en-ID" dirty="0" smtClean="0"/>
              <a:t> </a:t>
            </a:r>
            <a:r>
              <a:rPr lang="en-ID" i="1" dirty="0" smtClean="0"/>
              <a:t>Extreme Programming</a:t>
            </a:r>
            <a:endParaRPr dirty="0"/>
          </a:p>
        </p:txBody>
      </p:sp>
      <p:cxnSp>
        <p:nvCxnSpPr>
          <p:cNvPr id="1065" name="Google Shape;1065;p62"/>
          <p:cNvCxnSpPr/>
          <p:nvPr/>
        </p:nvCxnSpPr>
        <p:spPr>
          <a:xfrm>
            <a:off x="3923928" y="1779662"/>
            <a:ext cx="576064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6" name="Google Shape;1066;p62"/>
          <p:cNvSpPr/>
          <p:nvPr/>
        </p:nvSpPr>
        <p:spPr>
          <a:xfrm>
            <a:off x="-448750" y="-622150"/>
            <a:ext cx="1836900" cy="18369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62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0" name="Google Shape;7785;p85"/>
          <p:cNvSpPr/>
          <p:nvPr/>
        </p:nvSpPr>
        <p:spPr>
          <a:xfrm>
            <a:off x="5169254" y="1132200"/>
            <a:ext cx="2879100" cy="2879100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rgbClr val="FFFC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66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27584" y="1203598"/>
            <a:ext cx="7272808" cy="864096"/>
          </a:xfrm>
        </p:spPr>
        <p:txBody>
          <a:bodyPr/>
          <a:lstStyle/>
          <a:p>
            <a:pPr marL="139700" indent="0"/>
            <a:r>
              <a:rPr lang="en-US" dirty="0" smtClean="0"/>
              <a:t>12 </a:t>
            </a:r>
            <a:r>
              <a:rPr lang="en-US" dirty="0" err="1"/>
              <a:t>p</a:t>
            </a:r>
            <a:r>
              <a:rPr lang="en-US" dirty="0" err="1" smtClean="0"/>
              <a:t>rinsip</a:t>
            </a:r>
            <a:r>
              <a:rPr lang="en-US" dirty="0" smtClean="0"/>
              <a:t> </a:t>
            </a:r>
            <a:r>
              <a:rPr lang="en-US" dirty="0" err="1" smtClean="0"/>
              <a:t>utama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60FCA4"/>
                </a:solidFill>
              </a:rPr>
              <a:t>Extreme Programming</a:t>
            </a:r>
            <a:r>
              <a:rPr lang="en-US" dirty="0" smtClean="0"/>
              <a:t> yang </a:t>
            </a:r>
            <a:r>
              <a:rPr lang="en-US" dirty="0" err="1" smtClean="0"/>
              <a:t>diadaptasi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/>
              <a:t> </a:t>
            </a:r>
            <a:r>
              <a:rPr lang="en-US" i="1" dirty="0">
                <a:solidFill>
                  <a:srgbClr val="60FCA4"/>
                </a:solidFill>
              </a:rPr>
              <a:t>Extreme Programming For A </a:t>
            </a:r>
            <a:r>
              <a:rPr lang="en-US" i="1" dirty="0" smtClean="0">
                <a:solidFill>
                  <a:srgbClr val="60FCA4"/>
                </a:solidFill>
              </a:rPr>
              <a:t>Single Person Team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/>
              <a:t> </a:t>
            </a:r>
            <a:r>
              <a:rPr lang="en-US" dirty="0" err="1" smtClean="0"/>
              <a:t>tetap</a:t>
            </a:r>
            <a:r>
              <a:rPr lang="en-US" dirty="0" smtClean="0"/>
              <a:t> </a:t>
            </a:r>
            <a:r>
              <a:rPr lang="en-US" dirty="0" err="1" smtClean="0"/>
              <a:t>mempertahankan</a:t>
            </a:r>
            <a:r>
              <a:rPr lang="en-US" dirty="0" smtClean="0"/>
              <a:t> </a:t>
            </a:r>
            <a:r>
              <a:rPr lang="en-US" dirty="0" err="1" smtClean="0"/>
              <a:t>esensinya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:</a:t>
            </a:r>
            <a:endParaRPr lang="en-ID" dirty="0"/>
          </a:p>
        </p:txBody>
      </p:sp>
      <p:sp>
        <p:nvSpPr>
          <p:cNvPr id="12" name="Subtitle 11"/>
          <p:cNvSpPr>
            <a:spLocks noGrp="1"/>
          </p:cNvSpPr>
          <p:nvPr>
            <p:ph type="subTitle" idx="4"/>
          </p:nvPr>
        </p:nvSpPr>
        <p:spPr>
          <a:xfrm>
            <a:off x="1835696" y="2067694"/>
            <a:ext cx="2736304" cy="1440160"/>
          </a:xfrm>
        </p:spPr>
        <p:txBody>
          <a:bodyPr/>
          <a:lstStyle/>
          <a:p>
            <a:pPr marL="482600" lvl="0" indent="-342900">
              <a:buClr>
                <a:srgbClr val="60FCA4"/>
              </a:buClr>
              <a:buFont typeface="+mj-lt"/>
              <a:buAutoNum type="arabicPeriod"/>
            </a:pPr>
            <a:r>
              <a:rPr lang="en-ID" i="1" dirty="0"/>
              <a:t>The Planning Game</a:t>
            </a:r>
            <a:endParaRPr lang="en-ID" dirty="0"/>
          </a:p>
          <a:p>
            <a:pPr marL="482600" indent="-342900">
              <a:buClr>
                <a:srgbClr val="60FCA4"/>
              </a:buClr>
              <a:buFont typeface="+mj-lt"/>
              <a:buAutoNum type="arabicPeriod"/>
            </a:pPr>
            <a:r>
              <a:rPr lang="en-US" i="1" dirty="0" smtClean="0"/>
              <a:t>Small Releases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/>
            </a:pPr>
            <a:r>
              <a:rPr lang="en-US" i="1" dirty="0" smtClean="0"/>
              <a:t>Metaphor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/>
            </a:pPr>
            <a:r>
              <a:rPr lang="en-US" i="1" dirty="0" smtClean="0"/>
              <a:t>Simple Design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/>
            </a:pPr>
            <a:r>
              <a:rPr lang="en-US" i="1" dirty="0" smtClean="0"/>
              <a:t>Testing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/>
            </a:pPr>
            <a:r>
              <a:rPr lang="en-US" i="1" dirty="0" smtClean="0"/>
              <a:t>Refactoring</a:t>
            </a:r>
            <a:endParaRPr lang="en-ID" i="1" dirty="0"/>
          </a:p>
        </p:txBody>
      </p:sp>
      <p:sp>
        <p:nvSpPr>
          <p:cNvPr id="14" name="Subtitle 13"/>
          <p:cNvSpPr>
            <a:spLocks noGrp="1"/>
          </p:cNvSpPr>
          <p:nvPr>
            <p:ph type="subTitle" idx="6"/>
          </p:nvPr>
        </p:nvSpPr>
        <p:spPr>
          <a:xfrm>
            <a:off x="4355976" y="2067694"/>
            <a:ext cx="2520280" cy="1440160"/>
          </a:xfrm>
        </p:spPr>
        <p:txBody>
          <a:bodyPr/>
          <a:lstStyle/>
          <a:p>
            <a:pPr marL="482600" indent="-342900">
              <a:buClr>
                <a:srgbClr val="60FCA4"/>
              </a:buClr>
              <a:buFont typeface="+mj-lt"/>
              <a:buAutoNum type="arabicPeriod" startAt="7"/>
            </a:pPr>
            <a:r>
              <a:rPr lang="en-US" i="1" dirty="0" smtClean="0"/>
              <a:t>Pair Programming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 startAt="7"/>
            </a:pPr>
            <a:r>
              <a:rPr lang="en-US" i="1" dirty="0" smtClean="0"/>
              <a:t>Collective Code Ownership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 startAt="7"/>
            </a:pPr>
            <a:r>
              <a:rPr lang="en-US" i="1" dirty="0" err="1" smtClean="0"/>
              <a:t>Continous</a:t>
            </a:r>
            <a:r>
              <a:rPr lang="en-US" i="1" dirty="0" smtClean="0"/>
              <a:t> Integration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 startAt="7"/>
            </a:pPr>
            <a:r>
              <a:rPr lang="en-US" i="1" dirty="0" smtClean="0"/>
              <a:t>40-Hour Week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 startAt="7"/>
            </a:pPr>
            <a:r>
              <a:rPr lang="en-US" i="1" dirty="0" smtClean="0"/>
              <a:t>On-Site Customer</a:t>
            </a:r>
          </a:p>
          <a:p>
            <a:pPr marL="482600" indent="-342900">
              <a:buClr>
                <a:srgbClr val="60FCA4"/>
              </a:buClr>
              <a:buFont typeface="+mj-lt"/>
              <a:buAutoNum type="arabicPeriod" startAt="7"/>
            </a:pPr>
            <a:r>
              <a:rPr lang="en-US" i="1" dirty="0" smtClean="0"/>
              <a:t>Coding Standard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317400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5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861" name="Google Shape;861;p55"/>
          <p:cNvSpPr txBox="1">
            <a:spLocks noGrp="1"/>
          </p:cNvSpPr>
          <p:nvPr>
            <p:ph type="title"/>
          </p:nvPr>
        </p:nvSpPr>
        <p:spPr>
          <a:xfrm>
            <a:off x="714000" y="648300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Tahapan</a:t>
            </a:r>
            <a:endParaRPr dirty="0"/>
          </a:p>
        </p:txBody>
      </p:sp>
      <p:sp>
        <p:nvSpPr>
          <p:cNvPr id="862" name="Google Shape;862;p55"/>
          <p:cNvSpPr txBox="1">
            <a:spLocks noGrp="1"/>
          </p:cNvSpPr>
          <p:nvPr>
            <p:ph type="title" idx="2"/>
          </p:nvPr>
        </p:nvSpPr>
        <p:spPr>
          <a:xfrm>
            <a:off x="899592" y="3266378"/>
            <a:ext cx="1512168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>
                <a:solidFill>
                  <a:srgbClr val="60FCA4"/>
                </a:solidFill>
              </a:rPr>
              <a:t>Planning</a:t>
            </a:r>
            <a:endParaRPr i="1" dirty="0">
              <a:solidFill>
                <a:srgbClr val="60FCA4"/>
              </a:solidFill>
            </a:endParaRPr>
          </a:p>
        </p:txBody>
      </p:sp>
      <p:sp>
        <p:nvSpPr>
          <p:cNvPr id="864" name="Google Shape;864;p55"/>
          <p:cNvSpPr txBox="1">
            <a:spLocks noGrp="1"/>
          </p:cNvSpPr>
          <p:nvPr>
            <p:ph type="title" idx="3"/>
          </p:nvPr>
        </p:nvSpPr>
        <p:spPr>
          <a:xfrm>
            <a:off x="3359433" y="3266378"/>
            <a:ext cx="1932647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>
                <a:solidFill>
                  <a:srgbClr val="FFFC5C"/>
                </a:solidFill>
              </a:rPr>
              <a:t>Development</a:t>
            </a:r>
            <a:endParaRPr i="1" dirty="0">
              <a:solidFill>
                <a:srgbClr val="FFFC5C"/>
              </a:solidFill>
            </a:endParaRPr>
          </a:p>
        </p:txBody>
      </p:sp>
      <p:sp>
        <p:nvSpPr>
          <p:cNvPr id="866" name="Google Shape;866;p55"/>
          <p:cNvSpPr/>
          <p:nvPr/>
        </p:nvSpPr>
        <p:spPr>
          <a:xfrm>
            <a:off x="1200278" y="2330274"/>
            <a:ext cx="884700" cy="8850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55"/>
          <p:cNvSpPr/>
          <p:nvPr/>
        </p:nvSpPr>
        <p:spPr>
          <a:xfrm>
            <a:off x="3890453" y="2330274"/>
            <a:ext cx="884700" cy="885000"/>
          </a:xfrm>
          <a:prstGeom prst="ellipse">
            <a:avLst/>
          </a:prstGeom>
          <a:solidFill>
            <a:srgbClr val="FDFF5C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55"/>
          <p:cNvSpPr/>
          <p:nvPr/>
        </p:nvSpPr>
        <p:spPr>
          <a:xfrm>
            <a:off x="6580628" y="2330274"/>
            <a:ext cx="884700" cy="885000"/>
          </a:xfrm>
          <a:prstGeom prst="ellipse">
            <a:avLst/>
          </a:prstGeom>
          <a:solidFill>
            <a:srgbClr val="5CFFF8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55"/>
          <p:cNvSpPr txBox="1">
            <a:spLocks noGrp="1"/>
          </p:cNvSpPr>
          <p:nvPr>
            <p:ph type="title" idx="5"/>
          </p:nvPr>
        </p:nvSpPr>
        <p:spPr>
          <a:xfrm>
            <a:off x="6084168" y="3266378"/>
            <a:ext cx="1872208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Post-Mortem</a:t>
            </a:r>
            <a:endParaRPr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Subtitle 4"/>
          <p:cNvSpPr txBox="1">
            <a:spLocks/>
          </p:cNvSpPr>
          <p:nvPr/>
        </p:nvSpPr>
        <p:spPr>
          <a:xfrm>
            <a:off x="611560" y="1203598"/>
            <a:ext cx="74888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 Semi Condensed Medium"/>
              <a:buNone/>
              <a:defRPr sz="1400" b="0" i="0" u="none" strike="noStrike" cap="none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marL="139700" indent="0"/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,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tahapan</a:t>
            </a:r>
            <a:r>
              <a:rPr lang="en-US" dirty="0" smtClean="0"/>
              <a:t> 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dikerjakan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pedoman</a:t>
            </a:r>
            <a:r>
              <a:rPr lang="en-US" dirty="0" smtClean="0"/>
              <a:t> </a:t>
            </a:r>
            <a:r>
              <a:rPr lang="en-US" i="1" dirty="0">
                <a:solidFill>
                  <a:srgbClr val="60FCA4"/>
                </a:solidFill>
              </a:rPr>
              <a:t>Extreme Programming For A Single Person Team </a:t>
            </a:r>
            <a:r>
              <a:rPr lang="en-US" dirty="0" smtClean="0">
                <a:solidFill>
                  <a:schemeClr val="bg1"/>
                </a:solidFill>
              </a:rPr>
              <a:t>agar </a:t>
            </a:r>
            <a:r>
              <a:rPr lang="en-US" dirty="0" err="1" smtClean="0">
                <a:solidFill>
                  <a:schemeClr val="bg1"/>
                </a:solidFill>
              </a:rPr>
              <a:t>tetap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mampu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melaksanakan</a:t>
            </a:r>
            <a:r>
              <a:rPr lang="en-US" dirty="0" smtClean="0">
                <a:solidFill>
                  <a:schemeClr val="bg1"/>
                </a:solidFill>
              </a:rPr>
              <a:t> 12 </a:t>
            </a:r>
            <a:r>
              <a:rPr lang="en-US" dirty="0" err="1" smtClean="0">
                <a:solidFill>
                  <a:schemeClr val="bg1"/>
                </a:solidFill>
              </a:rPr>
              <a:t>prinsip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i="1" dirty="0" smtClean="0">
                <a:solidFill>
                  <a:srgbClr val="60FCA4"/>
                </a:solidFill>
              </a:rPr>
              <a:t>Extreme Programming</a:t>
            </a:r>
            <a:r>
              <a:rPr lang="en-US" dirty="0" smtClean="0">
                <a:solidFill>
                  <a:schemeClr val="bg1"/>
                </a:solidFill>
              </a:rPr>
              <a:t> yang </a:t>
            </a:r>
            <a:r>
              <a:rPr lang="en-US" dirty="0" err="1" smtClean="0">
                <a:solidFill>
                  <a:schemeClr val="bg1"/>
                </a:solidFill>
              </a:rPr>
              <a:t>telah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disebutkan</a:t>
            </a:r>
            <a:r>
              <a:rPr lang="en-US" dirty="0" smtClean="0"/>
              <a:t>:</a:t>
            </a:r>
            <a:endParaRPr lang="en-ID" dirty="0"/>
          </a:p>
        </p:txBody>
      </p:sp>
      <p:grpSp>
        <p:nvGrpSpPr>
          <p:cNvPr id="29" name="Google Shape;7479;p84"/>
          <p:cNvGrpSpPr/>
          <p:nvPr/>
        </p:nvGrpSpPr>
        <p:grpSpPr>
          <a:xfrm>
            <a:off x="6804248" y="2564721"/>
            <a:ext cx="449762" cy="420149"/>
            <a:chOff x="1674750" y="3254050"/>
            <a:chExt cx="294575" cy="295375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0" name="Google Shape;7480;p84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481;p84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482;p84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7569;p84"/>
          <p:cNvGrpSpPr/>
          <p:nvPr/>
        </p:nvGrpSpPr>
        <p:grpSpPr>
          <a:xfrm>
            <a:off x="1466121" y="2587478"/>
            <a:ext cx="432048" cy="424331"/>
            <a:chOff x="3859600" y="3591950"/>
            <a:chExt cx="296975" cy="296175"/>
          </a:xfrm>
          <a:solidFill>
            <a:srgbClr val="60FCA4"/>
          </a:solidFill>
        </p:grpSpPr>
        <p:sp>
          <p:nvSpPr>
            <p:cNvPr id="34" name="Google Shape;7570;p84"/>
            <p:cNvSpPr/>
            <p:nvPr/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571;p84"/>
            <p:cNvSpPr/>
            <p:nvPr/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572;p84"/>
            <p:cNvSpPr/>
            <p:nvPr/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8496;p86"/>
          <p:cNvGrpSpPr/>
          <p:nvPr/>
        </p:nvGrpSpPr>
        <p:grpSpPr>
          <a:xfrm>
            <a:off x="4088615" y="2546298"/>
            <a:ext cx="488376" cy="453280"/>
            <a:chOff x="-49027775" y="3183175"/>
            <a:chExt cx="299325" cy="299325"/>
          </a:xfrm>
          <a:solidFill>
            <a:srgbClr val="FFFC5C"/>
          </a:solidFill>
        </p:grpSpPr>
        <p:sp>
          <p:nvSpPr>
            <p:cNvPr id="43" name="Google Shape;8497;p86"/>
            <p:cNvSpPr/>
            <p:nvPr/>
          </p:nvSpPr>
          <p:spPr>
            <a:xfrm>
              <a:off x="-48870250" y="3183175"/>
              <a:ext cx="141800" cy="185900"/>
            </a:xfrm>
            <a:custGeom>
              <a:avLst/>
              <a:gdLst/>
              <a:ahLst/>
              <a:cxnLst/>
              <a:rect l="l" t="t" r="r" b="b"/>
              <a:pathLst>
                <a:path w="5672" h="7436" extrusionOk="0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498;p86"/>
            <p:cNvSpPr/>
            <p:nvPr/>
          </p:nvSpPr>
          <p:spPr>
            <a:xfrm>
              <a:off x="-49027775" y="3183175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499;p86"/>
            <p:cNvSpPr/>
            <p:nvPr/>
          </p:nvSpPr>
          <p:spPr>
            <a:xfrm>
              <a:off x="-49027775" y="3295800"/>
              <a:ext cx="141800" cy="186700"/>
            </a:xfrm>
            <a:custGeom>
              <a:avLst/>
              <a:gdLst/>
              <a:ahLst/>
              <a:cxnLst/>
              <a:rect l="l" t="t" r="r" b="b"/>
              <a:pathLst>
                <a:path w="5672" h="7468" extrusionOk="0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00;p86"/>
            <p:cNvSpPr/>
            <p:nvPr/>
          </p:nvSpPr>
          <p:spPr>
            <a:xfrm>
              <a:off x="-48914350" y="3340700"/>
              <a:ext cx="185900" cy="141800"/>
            </a:xfrm>
            <a:custGeom>
              <a:avLst/>
              <a:gdLst/>
              <a:ahLst/>
              <a:cxnLst/>
              <a:rect l="l" t="t" r="r" b="b"/>
              <a:pathLst>
                <a:path w="7436" h="5672" extrusionOk="0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7375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8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05126" y="483518"/>
            <a:ext cx="771330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Penelitian Relevan</a:t>
            </a:r>
            <a:endParaRPr dirty="0"/>
          </a:p>
        </p:txBody>
      </p:sp>
      <p:sp>
        <p:nvSpPr>
          <p:cNvPr id="596" name="Google Shape;596;p48"/>
          <p:cNvSpPr txBox="1">
            <a:spLocks noGrp="1"/>
          </p:cNvSpPr>
          <p:nvPr>
            <p:ph type="title" idx="2"/>
          </p:nvPr>
        </p:nvSpPr>
        <p:spPr>
          <a:xfrm>
            <a:off x="2109641" y="1067047"/>
            <a:ext cx="5773567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sz="1600" dirty="0" err="1"/>
              <a:t>Linghui</a:t>
            </a:r>
            <a:r>
              <a:rPr lang="en-ID" sz="1600" dirty="0"/>
              <a:t> Liu, Yao Lu</a:t>
            </a:r>
            <a:endParaRPr sz="1600" dirty="0"/>
          </a:p>
        </p:txBody>
      </p:sp>
      <p:sp>
        <p:nvSpPr>
          <p:cNvPr id="597" name="Google Shape;597;p48"/>
          <p:cNvSpPr txBox="1">
            <a:spLocks noGrp="1"/>
          </p:cNvSpPr>
          <p:nvPr>
            <p:ph type="subTitle" idx="1"/>
          </p:nvPr>
        </p:nvSpPr>
        <p:spPr>
          <a:xfrm>
            <a:off x="2109641" y="1451248"/>
            <a:ext cx="5486695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Application of Agile Method in the </a:t>
            </a:r>
            <a:r>
              <a:rPr lang="en-US" dirty="0" smtClean="0"/>
              <a:t>Enterprise Website </a:t>
            </a:r>
            <a:r>
              <a:rPr lang="en-US" dirty="0"/>
              <a:t>Backstage Management System -Practices for Extreme Programming</a:t>
            </a:r>
          </a:p>
        </p:txBody>
      </p:sp>
      <p:sp>
        <p:nvSpPr>
          <p:cNvPr id="601" name="Google Shape;601;p48"/>
          <p:cNvSpPr txBox="1">
            <a:spLocks noGrp="1"/>
          </p:cNvSpPr>
          <p:nvPr>
            <p:ph type="subTitle" idx="8"/>
          </p:nvPr>
        </p:nvSpPr>
        <p:spPr>
          <a:xfrm>
            <a:off x="2109642" y="2662948"/>
            <a:ext cx="5270670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err="1"/>
              <a:t>Rancang</a:t>
            </a:r>
            <a:r>
              <a:rPr lang="en-ID" dirty="0"/>
              <a:t> </a:t>
            </a:r>
            <a:r>
              <a:rPr lang="en-ID" dirty="0" err="1"/>
              <a:t>Bangun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Web Scraping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 smtClean="0"/>
              <a:t>Korpus</a:t>
            </a:r>
            <a:r>
              <a:rPr lang="en-ID" dirty="0" smtClean="0"/>
              <a:t> </a:t>
            </a:r>
            <a:r>
              <a:rPr lang="en-ID" dirty="0" err="1" smtClean="0"/>
              <a:t>Paralel</a:t>
            </a:r>
            <a:r>
              <a:rPr lang="en-ID" dirty="0" smtClean="0"/>
              <a:t> </a:t>
            </a:r>
            <a:r>
              <a:rPr lang="en-ID" dirty="0"/>
              <a:t>Indonesia-</a:t>
            </a:r>
            <a:r>
              <a:rPr lang="en-ID" dirty="0" err="1"/>
              <a:t>Inggris</a:t>
            </a:r>
            <a:r>
              <a:rPr lang="en-ID" dirty="0"/>
              <a:t> </a:t>
            </a:r>
            <a:r>
              <a:rPr lang="en-ID" dirty="0" err="1" smtClean="0"/>
              <a:t>dengan</a:t>
            </a:r>
            <a:r>
              <a:rPr lang="en-ID" dirty="0" smtClean="0"/>
              <a:t> </a:t>
            </a:r>
            <a:r>
              <a:rPr lang="en-ID" dirty="0" err="1" smtClean="0"/>
              <a:t>Metode</a:t>
            </a:r>
            <a:r>
              <a:rPr lang="en-ID" dirty="0" smtClean="0"/>
              <a:t> HTML DOM</a:t>
            </a:r>
            <a:endParaRPr lang="en-ID" dirty="0"/>
          </a:p>
        </p:txBody>
      </p:sp>
      <p:sp>
        <p:nvSpPr>
          <p:cNvPr id="605" name="Google Shape;605;p48"/>
          <p:cNvSpPr txBox="1">
            <a:spLocks noGrp="1"/>
          </p:cNvSpPr>
          <p:nvPr>
            <p:ph type="title" idx="7"/>
          </p:nvPr>
        </p:nvSpPr>
        <p:spPr>
          <a:xfrm>
            <a:off x="2109641" y="2190944"/>
            <a:ext cx="4964767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sz="1600" dirty="0" err="1"/>
              <a:t>Vivensius</a:t>
            </a:r>
            <a:r>
              <a:rPr lang="en-ID" sz="1600" dirty="0"/>
              <a:t> </a:t>
            </a:r>
            <a:r>
              <a:rPr lang="en-ID" sz="1600" dirty="0" err="1"/>
              <a:t>Mitra</a:t>
            </a:r>
            <a:r>
              <a:rPr lang="en-ID" sz="1600" dirty="0"/>
              <a:t>, </a:t>
            </a:r>
            <a:r>
              <a:rPr lang="en-ID" sz="1600" dirty="0" err="1"/>
              <a:t>Herry</a:t>
            </a:r>
            <a:r>
              <a:rPr lang="en-ID" sz="1600" dirty="0"/>
              <a:t> </a:t>
            </a:r>
            <a:r>
              <a:rPr lang="en-ID" sz="1600" dirty="0" err="1"/>
              <a:t>Sujaini</a:t>
            </a:r>
            <a:r>
              <a:rPr lang="en-ID" sz="1600" dirty="0"/>
              <a:t>, </a:t>
            </a:r>
            <a:r>
              <a:rPr lang="en-ID" sz="1600" dirty="0" err="1"/>
              <a:t>Arif</a:t>
            </a:r>
            <a:r>
              <a:rPr lang="en-ID" sz="1600" dirty="0"/>
              <a:t> </a:t>
            </a:r>
            <a:r>
              <a:rPr lang="en-ID" sz="1600" dirty="0" err="1"/>
              <a:t>Bijaksana</a:t>
            </a:r>
            <a:r>
              <a:rPr lang="en-ID" sz="1600" dirty="0"/>
              <a:t> Putra Negara</a:t>
            </a:r>
            <a:endParaRPr sz="1600" dirty="0"/>
          </a:p>
        </p:txBody>
      </p:sp>
      <p:sp>
        <p:nvSpPr>
          <p:cNvPr id="606" name="Google Shape;606;p48"/>
          <p:cNvSpPr txBox="1">
            <a:spLocks noGrp="1"/>
          </p:cNvSpPr>
          <p:nvPr>
            <p:ph type="title" idx="14"/>
          </p:nvPr>
        </p:nvSpPr>
        <p:spPr>
          <a:xfrm>
            <a:off x="2109642" y="3390820"/>
            <a:ext cx="635079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sz="1600" dirty="0"/>
              <a:t>Ibrahim </a:t>
            </a:r>
            <a:r>
              <a:rPr lang="en-ID" sz="1600" dirty="0" err="1"/>
              <a:t>Ghaznavi</a:t>
            </a:r>
            <a:r>
              <a:rPr lang="en-ID" sz="1600" dirty="0"/>
              <a:t>, Umar </a:t>
            </a:r>
            <a:r>
              <a:rPr lang="en-ID" sz="1600" dirty="0" err="1"/>
              <a:t>Muneer</a:t>
            </a:r>
            <a:r>
              <a:rPr lang="en-ID" sz="1600" dirty="0"/>
              <a:t>, Usman </a:t>
            </a:r>
            <a:r>
              <a:rPr lang="en-ID" sz="1600" dirty="0" err="1"/>
              <a:t>Shahid</a:t>
            </a:r>
            <a:r>
              <a:rPr lang="en-ID" sz="1600" dirty="0"/>
              <a:t>, Shan Randhawa, </a:t>
            </a:r>
            <a:r>
              <a:rPr lang="en-ID" sz="1600" dirty="0" err="1"/>
              <a:t>Kashif</a:t>
            </a:r>
            <a:r>
              <a:rPr lang="en-ID" sz="1600" dirty="0"/>
              <a:t> Ali, </a:t>
            </a:r>
            <a:r>
              <a:rPr lang="en-ID" sz="1600" dirty="0" err="1"/>
              <a:t>Tapan</a:t>
            </a:r>
            <a:r>
              <a:rPr lang="en-ID" sz="1600" dirty="0"/>
              <a:t> Parikh, Umar </a:t>
            </a:r>
            <a:r>
              <a:rPr lang="en-ID" sz="1600" dirty="0" err="1"/>
              <a:t>Saif</a:t>
            </a:r>
            <a:endParaRPr sz="1600" dirty="0"/>
          </a:p>
        </p:txBody>
      </p:sp>
      <p:sp>
        <p:nvSpPr>
          <p:cNvPr id="607" name="Google Shape;607;p48"/>
          <p:cNvSpPr txBox="1">
            <a:spLocks noGrp="1"/>
          </p:cNvSpPr>
          <p:nvPr>
            <p:ph type="subTitle" idx="15"/>
          </p:nvPr>
        </p:nvSpPr>
        <p:spPr>
          <a:xfrm>
            <a:off x="2109642" y="3887084"/>
            <a:ext cx="5261796" cy="4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 err="1"/>
              <a:t>VillageApps</a:t>
            </a:r>
            <a:r>
              <a:rPr lang="en-US" dirty="0"/>
              <a:t> - A platform to Educate </a:t>
            </a:r>
            <a:r>
              <a:rPr lang="en-US" dirty="0" smtClean="0"/>
              <a:t>underprivileged communities </a:t>
            </a:r>
            <a:r>
              <a:rPr lang="en-US" dirty="0"/>
              <a:t>in their mother tongue</a:t>
            </a:r>
          </a:p>
        </p:txBody>
      </p:sp>
      <p:sp>
        <p:nvSpPr>
          <p:cNvPr id="608" name="Google Shape;608;p48"/>
          <p:cNvSpPr/>
          <p:nvPr/>
        </p:nvSpPr>
        <p:spPr>
          <a:xfrm>
            <a:off x="1106742" y="1143247"/>
            <a:ext cx="774300" cy="7746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8"/>
          <p:cNvSpPr/>
          <p:nvPr/>
        </p:nvSpPr>
        <p:spPr>
          <a:xfrm>
            <a:off x="1106742" y="2278097"/>
            <a:ext cx="774300" cy="774600"/>
          </a:xfrm>
          <a:prstGeom prst="ellipse">
            <a:avLst/>
          </a:prstGeom>
          <a:solidFill>
            <a:srgbClr val="955CFF">
              <a:alpha val="236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8"/>
          <p:cNvSpPr/>
          <p:nvPr/>
        </p:nvSpPr>
        <p:spPr>
          <a:xfrm>
            <a:off x="1106742" y="3412947"/>
            <a:ext cx="774300" cy="774600"/>
          </a:xfrm>
          <a:prstGeom prst="ellipse">
            <a:avLst/>
          </a:prstGeom>
          <a:solidFill>
            <a:srgbClr val="5CFFA6">
              <a:alpha val="435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4" name="Google Shape;654;p48"/>
          <p:cNvGrpSpPr/>
          <p:nvPr/>
        </p:nvGrpSpPr>
        <p:grpSpPr>
          <a:xfrm>
            <a:off x="1296520" y="1333158"/>
            <a:ext cx="394743" cy="394777"/>
            <a:chOff x="1067526" y="2191523"/>
            <a:chExt cx="394743" cy="394777"/>
          </a:xfrm>
        </p:grpSpPr>
        <p:sp>
          <p:nvSpPr>
            <p:cNvPr id="655" name="Google Shape;655;p48"/>
            <p:cNvSpPr/>
            <p:nvPr/>
          </p:nvSpPr>
          <p:spPr>
            <a:xfrm>
              <a:off x="1184019" y="2191523"/>
              <a:ext cx="278242" cy="232279"/>
            </a:xfrm>
            <a:custGeom>
              <a:avLst/>
              <a:gdLst/>
              <a:ahLst/>
              <a:cxnLst/>
              <a:rect l="l" t="t" r="r" b="b"/>
              <a:pathLst>
                <a:path w="8360" h="6979" extrusionOk="0">
                  <a:moveTo>
                    <a:pt x="1" y="1"/>
                  </a:moveTo>
                  <a:lnTo>
                    <a:pt x="1" y="1049"/>
                  </a:lnTo>
                  <a:lnTo>
                    <a:pt x="7312" y="1049"/>
                  </a:lnTo>
                  <a:lnTo>
                    <a:pt x="7312" y="6979"/>
                  </a:lnTo>
                  <a:lnTo>
                    <a:pt x="8360" y="6979"/>
                  </a:lnTo>
                  <a:lnTo>
                    <a:pt x="83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1125373" y="2249403"/>
              <a:ext cx="279040" cy="279007"/>
            </a:xfrm>
            <a:custGeom>
              <a:avLst/>
              <a:gdLst/>
              <a:ahLst/>
              <a:cxnLst/>
              <a:rect l="l" t="t" r="r" b="b"/>
              <a:pathLst>
                <a:path w="8384" h="8383" extrusionOk="0">
                  <a:moveTo>
                    <a:pt x="1" y="0"/>
                  </a:moveTo>
                  <a:lnTo>
                    <a:pt x="1" y="1048"/>
                  </a:lnTo>
                  <a:lnTo>
                    <a:pt x="7335" y="1048"/>
                  </a:lnTo>
                  <a:lnTo>
                    <a:pt x="7335" y="8383"/>
                  </a:lnTo>
                  <a:lnTo>
                    <a:pt x="8383" y="8383"/>
                  </a:lnTo>
                  <a:lnTo>
                    <a:pt x="83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1180058" y="2411895"/>
              <a:ext cx="53951" cy="21434"/>
            </a:xfrm>
            <a:custGeom>
              <a:avLst/>
              <a:gdLst/>
              <a:ahLst/>
              <a:cxnLst/>
              <a:rect l="l" t="t" r="r" b="b"/>
              <a:pathLst>
                <a:path w="1621" h="644" extrusionOk="0">
                  <a:moveTo>
                    <a:pt x="810" y="0"/>
                  </a:moveTo>
                  <a:lnTo>
                    <a:pt x="1" y="334"/>
                  </a:lnTo>
                  <a:lnTo>
                    <a:pt x="810" y="643"/>
                  </a:lnTo>
                  <a:lnTo>
                    <a:pt x="1620" y="334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1218102" y="2439621"/>
              <a:ext cx="34913" cy="58710"/>
            </a:xfrm>
            <a:custGeom>
              <a:avLst/>
              <a:gdLst/>
              <a:ahLst/>
              <a:cxnLst/>
              <a:rect l="l" t="t" r="r" b="b"/>
              <a:pathLst>
                <a:path w="1049" h="1764" extrusionOk="0">
                  <a:moveTo>
                    <a:pt x="1049" y="1"/>
                  </a:moveTo>
                  <a:lnTo>
                    <a:pt x="1" y="429"/>
                  </a:lnTo>
                  <a:lnTo>
                    <a:pt x="1" y="1763"/>
                  </a:lnTo>
                  <a:lnTo>
                    <a:pt x="1049" y="1358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1067526" y="2308049"/>
              <a:ext cx="278208" cy="278242"/>
            </a:xfrm>
            <a:custGeom>
              <a:avLst/>
              <a:gdLst/>
              <a:ahLst/>
              <a:cxnLst/>
              <a:rect l="l" t="t" r="r" b="b"/>
              <a:pathLst>
                <a:path w="8359" h="8360" extrusionOk="0">
                  <a:moveTo>
                    <a:pt x="4191" y="2382"/>
                  </a:moveTo>
                  <a:lnTo>
                    <a:pt x="6287" y="3216"/>
                  </a:lnTo>
                  <a:lnTo>
                    <a:pt x="6287" y="5764"/>
                  </a:lnTo>
                  <a:lnTo>
                    <a:pt x="4191" y="6621"/>
                  </a:lnTo>
                  <a:lnTo>
                    <a:pt x="2096" y="5764"/>
                  </a:lnTo>
                  <a:lnTo>
                    <a:pt x="2096" y="3216"/>
                  </a:lnTo>
                  <a:lnTo>
                    <a:pt x="4191" y="2382"/>
                  </a:lnTo>
                  <a:close/>
                  <a:moveTo>
                    <a:pt x="0" y="1"/>
                  </a:moveTo>
                  <a:lnTo>
                    <a:pt x="0" y="8359"/>
                  </a:lnTo>
                  <a:lnTo>
                    <a:pt x="8359" y="8359"/>
                  </a:lnTo>
                  <a:lnTo>
                    <a:pt x="83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1160254" y="2439621"/>
              <a:ext cx="34913" cy="58710"/>
            </a:xfrm>
            <a:custGeom>
              <a:avLst/>
              <a:gdLst/>
              <a:ahLst/>
              <a:cxnLst/>
              <a:rect l="l" t="t" r="r" b="b"/>
              <a:pathLst>
                <a:path w="1049" h="1764" extrusionOk="0">
                  <a:moveTo>
                    <a:pt x="0" y="1"/>
                  </a:moveTo>
                  <a:lnTo>
                    <a:pt x="0" y="1358"/>
                  </a:lnTo>
                  <a:lnTo>
                    <a:pt x="1048" y="1763"/>
                  </a:lnTo>
                  <a:lnTo>
                    <a:pt x="1048" y="4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1392509" y="2516506"/>
              <a:ext cx="69760" cy="69793"/>
            </a:xfrm>
            <a:custGeom>
              <a:avLst/>
              <a:gdLst/>
              <a:ahLst/>
              <a:cxnLst/>
              <a:rect l="l" t="t" r="r" b="b"/>
              <a:pathLst>
                <a:path w="2096" h="2097" extrusionOk="0">
                  <a:moveTo>
                    <a:pt x="1381" y="1"/>
                  </a:moveTo>
                  <a:lnTo>
                    <a:pt x="1381" y="1382"/>
                  </a:lnTo>
                  <a:lnTo>
                    <a:pt x="0" y="1382"/>
                  </a:lnTo>
                  <a:lnTo>
                    <a:pt x="0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1067526" y="2191523"/>
              <a:ext cx="69760" cy="69793"/>
            </a:xfrm>
            <a:custGeom>
              <a:avLst/>
              <a:gdLst/>
              <a:ahLst/>
              <a:cxnLst/>
              <a:rect l="l" t="t" r="r" b="b"/>
              <a:pathLst>
                <a:path w="2096" h="2097" extrusionOk="0">
                  <a:moveTo>
                    <a:pt x="0" y="1"/>
                  </a:moveTo>
                  <a:lnTo>
                    <a:pt x="0" y="2097"/>
                  </a:lnTo>
                  <a:lnTo>
                    <a:pt x="715" y="2097"/>
                  </a:lnTo>
                  <a:lnTo>
                    <a:pt x="715" y="715"/>
                  </a:lnTo>
                  <a:lnTo>
                    <a:pt x="2096" y="715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3" name="Google Shape;663;p48"/>
          <p:cNvSpPr/>
          <p:nvPr/>
        </p:nvSpPr>
        <p:spPr>
          <a:xfrm>
            <a:off x="7218425" y="-660001"/>
            <a:ext cx="1617600" cy="16176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654;p48"/>
          <p:cNvGrpSpPr/>
          <p:nvPr/>
        </p:nvGrpSpPr>
        <p:grpSpPr>
          <a:xfrm>
            <a:off x="1296512" y="3602858"/>
            <a:ext cx="394743" cy="394777"/>
            <a:chOff x="1067526" y="2191523"/>
            <a:chExt cx="394743" cy="394777"/>
          </a:xfrm>
        </p:grpSpPr>
        <p:sp>
          <p:nvSpPr>
            <p:cNvPr id="87" name="Google Shape;655;p48"/>
            <p:cNvSpPr/>
            <p:nvPr/>
          </p:nvSpPr>
          <p:spPr>
            <a:xfrm>
              <a:off x="1184019" y="2191523"/>
              <a:ext cx="278242" cy="232279"/>
            </a:xfrm>
            <a:custGeom>
              <a:avLst/>
              <a:gdLst/>
              <a:ahLst/>
              <a:cxnLst/>
              <a:rect l="l" t="t" r="r" b="b"/>
              <a:pathLst>
                <a:path w="8360" h="6979" extrusionOk="0">
                  <a:moveTo>
                    <a:pt x="1" y="1"/>
                  </a:moveTo>
                  <a:lnTo>
                    <a:pt x="1" y="1049"/>
                  </a:lnTo>
                  <a:lnTo>
                    <a:pt x="7312" y="1049"/>
                  </a:lnTo>
                  <a:lnTo>
                    <a:pt x="7312" y="6979"/>
                  </a:lnTo>
                  <a:lnTo>
                    <a:pt x="8360" y="6979"/>
                  </a:lnTo>
                  <a:lnTo>
                    <a:pt x="83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56;p48"/>
            <p:cNvSpPr/>
            <p:nvPr/>
          </p:nvSpPr>
          <p:spPr>
            <a:xfrm>
              <a:off x="1125373" y="2249403"/>
              <a:ext cx="279040" cy="279007"/>
            </a:xfrm>
            <a:custGeom>
              <a:avLst/>
              <a:gdLst/>
              <a:ahLst/>
              <a:cxnLst/>
              <a:rect l="l" t="t" r="r" b="b"/>
              <a:pathLst>
                <a:path w="8384" h="8383" extrusionOk="0">
                  <a:moveTo>
                    <a:pt x="1" y="0"/>
                  </a:moveTo>
                  <a:lnTo>
                    <a:pt x="1" y="1048"/>
                  </a:lnTo>
                  <a:lnTo>
                    <a:pt x="7335" y="1048"/>
                  </a:lnTo>
                  <a:lnTo>
                    <a:pt x="7335" y="8383"/>
                  </a:lnTo>
                  <a:lnTo>
                    <a:pt x="8383" y="8383"/>
                  </a:lnTo>
                  <a:lnTo>
                    <a:pt x="83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57;p48"/>
            <p:cNvSpPr/>
            <p:nvPr/>
          </p:nvSpPr>
          <p:spPr>
            <a:xfrm>
              <a:off x="1180058" y="2411895"/>
              <a:ext cx="53951" cy="21434"/>
            </a:xfrm>
            <a:custGeom>
              <a:avLst/>
              <a:gdLst/>
              <a:ahLst/>
              <a:cxnLst/>
              <a:rect l="l" t="t" r="r" b="b"/>
              <a:pathLst>
                <a:path w="1621" h="644" extrusionOk="0">
                  <a:moveTo>
                    <a:pt x="810" y="0"/>
                  </a:moveTo>
                  <a:lnTo>
                    <a:pt x="1" y="334"/>
                  </a:lnTo>
                  <a:lnTo>
                    <a:pt x="810" y="643"/>
                  </a:lnTo>
                  <a:lnTo>
                    <a:pt x="1620" y="334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58;p48"/>
            <p:cNvSpPr/>
            <p:nvPr/>
          </p:nvSpPr>
          <p:spPr>
            <a:xfrm>
              <a:off x="1218102" y="2439621"/>
              <a:ext cx="34913" cy="58710"/>
            </a:xfrm>
            <a:custGeom>
              <a:avLst/>
              <a:gdLst/>
              <a:ahLst/>
              <a:cxnLst/>
              <a:rect l="l" t="t" r="r" b="b"/>
              <a:pathLst>
                <a:path w="1049" h="1764" extrusionOk="0">
                  <a:moveTo>
                    <a:pt x="1049" y="1"/>
                  </a:moveTo>
                  <a:lnTo>
                    <a:pt x="1" y="429"/>
                  </a:lnTo>
                  <a:lnTo>
                    <a:pt x="1" y="1763"/>
                  </a:lnTo>
                  <a:lnTo>
                    <a:pt x="1049" y="1358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59;p48"/>
            <p:cNvSpPr/>
            <p:nvPr/>
          </p:nvSpPr>
          <p:spPr>
            <a:xfrm>
              <a:off x="1067526" y="2308049"/>
              <a:ext cx="278208" cy="278242"/>
            </a:xfrm>
            <a:custGeom>
              <a:avLst/>
              <a:gdLst/>
              <a:ahLst/>
              <a:cxnLst/>
              <a:rect l="l" t="t" r="r" b="b"/>
              <a:pathLst>
                <a:path w="8359" h="8360" extrusionOk="0">
                  <a:moveTo>
                    <a:pt x="4191" y="2382"/>
                  </a:moveTo>
                  <a:lnTo>
                    <a:pt x="6287" y="3216"/>
                  </a:lnTo>
                  <a:lnTo>
                    <a:pt x="6287" y="5764"/>
                  </a:lnTo>
                  <a:lnTo>
                    <a:pt x="4191" y="6621"/>
                  </a:lnTo>
                  <a:lnTo>
                    <a:pt x="2096" y="5764"/>
                  </a:lnTo>
                  <a:lnTo>
                    <a:pt x="2096" y="3216"/>
                  </a:lnTo>
                  <a:lnTo>
                    <a:pt x="4191" y="2382"/>
                  </a:lnTo>
                  <a:close/>
                  <a:moveTo>
                    <a:pt x="0" y="1"/>
                  </a:moveTo>
                  <a:lnTo>
                    <a:pt x="0" y="8359"/>
                  </a:lnTo>
                  <a:lnTo>
                    <a:pt x="8359" y="8359"/>
                  </a:lnTo>
                  <a:lnTo>
                    <a:pt x="83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660;p48"/>
            <p:cNvSpPr/>
            <p:nvPr/>
          </p:nvSpPr>
          <p:spPr>
            <a:xfrm>
              <a:off x="1160254" y="2439621"/>
              <a:ext cx="34913" cy="58710"/>
            </a:xfrm>
            <a:custGeom>
              <a:avLst/>
              <a:gdLst/>
              <a:ahLst/>
              <a:cxnLst/>
              <a:rect l="l" t="t" r="r" b="b"/>
              <a:pathLst>
                <a:path w="1049" h="1764" extrusionOk="0">
                  <a:moveTo>
                    <a:pt x="0" y="1"/>
                  </a:moveTo>
                  <a:lnTo>
                    <a:pt x="0" y="1358"/>
                  </a:lnTo>
                  <a:lnTo>
                    <a:pt x="1048" y="1763"/>
                  </a:lnTo>
                  <a:lnTo>
                    <a:pt x="1048" y="4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661;p48"/>
            <p:cNvSpPr/>
            <p:nvPr/>
          </p:nvSpPr>
          <p:spPr>
            <a:xfrm>
              <a:off x="1392509" y="2516506"/>
              <a:ext cx="69760" cy="69793"/>
            </a:xfrm>
            <a:custGeom>
              <a:avLst/>
              <a:gdLst/>
              <a:ahLst/>
              <a:cxnLst/>
              <a:rect l="l" t="t" r="r" b="b"/>
              <a:pathLst>
                <a:path w="2096" h="2097" extrusionOk="0">
                  <a:moveTo>
                    <a:pt x="1381" y="1"/>
                  </a:moveTo>
                  <a:lnTo>
                    <a:pt x="1381" y="1382"/>
                  </a:lnTo>
                  <a:lnTo>
                    <a:pt x="0" y="1382"/>
                  </a:lnTo>
                  <a:lnTo>
                    <a:pt x="0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662;p48"/>
            <p:cNvSpPr/>
            <p:nvPr/>
          </p:nvSpPr>
          <p:spPr>
            <a:xfrm>
              <a:off x="1067526" y="2191523"/>
              <a:ext cx="69760" cy="69793"/>
            </a:xfrm>
            <a:custGeom>
              <a:avLst/>
              <a:gdLst/>
              <a:ahLst/>
              <a:cxnLst/>
              <a:rect l="l" t="t" r="r" b="b"/>
              <a:pathLst>
                <a:path w="2096" h="2097" extrusionOk="0">
                  <a:moveTo>
                    <a:pt x="0" y="1"/>
                  </a:moveTo>
                  <a:lnTo>
                    <a:pt x="0" y="2097"/>
                  </a:lnTo>
                  <a:lnTo>
                    <a:pt x="715" y="2097"/>
                  </a:lnTo>
                  <a:lnTo>
                    <a:pt x="715" y="715"/>
                  </a:lnTo>
                  <a:lnTo>
                    <a:pt x="2096" y="715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654;p48"/>
          <p:cNvGrpSpPr/>
          <p:nvPr/>
        </p:nvGrpSpPr>
        <p:grpSpPr>
          <a:xfrm>
            <a:off x="1296619" y="2468008"/>
            <a:ext cx="394743" cy="394777"/>
            <a:chOff x="1067526" y="2191523"/>
            <a:chExt cx="394743" cy="394777"/>
          </a:xfrm>
          <a:solidFill>
            <a:srgbClr val="955DFF"/>
          </a:solidFill>
        </p:grpSpPr>
        <p:sp>
          <p:nvSpPr>
            <p:cNvPr id="96" name="Google Shape;655;p48"/>
            <p:cNvSpPr/>
            <p:nvPr/>
          </p:nvSpPr>
          <p:spPr>
            <a:xfrm>
              <a:off x="1184019" y="2191523"/>
              <a:ext cx="278242" cy="232279"/>
            </a:xfrm>
            <a:custGeom>
              <a:avLst/>
              <a:gdLst/>
              <a:ahLst/>
              <a:cxnLst/>
              <a:rect l="l" t="t" r="r" b="b"/>
              <a:pathLst>
                <a:path w="8360" h="6979" extrusionOk="0">
                  <a:moveTo>
                    <a:pt x="1" y="1"/>
                  </a:moveTo>
                  <a:lnTo>
                    <a:pt x="1" y="1049"/>
                  </a:lnTo>
                  <a:lnTo>
                    <a:pt x="7312" y="1049"/>
                  </a:lnTo>
                  <a:lnTo>
                    <a:pt x="7312" y="6979"/>
                  </a:lnTo>
                  <a:lnTo>
                    <a:pt x="8360" y="6979"/>
                  </a:lnTo>
                  <a:lnTo>
                    <a:pt x="83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56;p48"/>
            <p:cNvSpPr/>
            <p:nvPr/>
          </p:nvSpPr>
          <p:spPr>
            <a:xfrm>
              <a:off x="1125373" y="2249403"/>
              <a:ext cx="279040" cy="279007"/>
            </a:xfrm>
            <a:custGeom>
              <a:avLst/>
              <a:gdLst/>
              <a:ahLst/>
              <a:cxnLst/>
              <a:rect l="l" t="t" r="r" b="b"/>
              <a:pathLst>
                <a:path w="8384" h="8383" extrusionOk="0">
                  <a:moveTo>
                    <a:pt x="1" y="0"/>
                  </a:moveTo>
                  <a:lnTo>
                    <a:pt x="1" y="1048"/>
                  </a:lnTo>
                  <a:lnTo>
                    <a:pt x="7335" y="1048"/>
                  </a:lnTo>
                  <a:lnTo>
                    <a:pt x="7335" y="8383"/>
                  </a:lnTo>
                  <a:lnTo>
                    <a:pt x="8383" y="8383"/>
                  </a:lnTo>
                  <a:lnTo>
                    <a:pt x="8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57;p48"/>
            <p:cNvSpPr/>
            <p:nvPr/>
          </p:nvSpPr>
          <p:spPr>
            <a:xfrm>
              <a:off x="1180058" y="2411895"/>
              <a:ext cx="53951" cy="21434"/>
            </a:xfrm>
            <a:custGeom>
              <a:avLst/>
              <a:gdLst/>
              <a:ahLst/>
              <a:cxnLst/>
              <a:rect l="l" t="t" r="r" b="b"/>
              <a:pathLst>
                <a:path w="1621" h="644" extrusionOk="0">
                  <a:moveTo>
                    <a:pt x="810" y="0"/>
                  </a:moveTo>
                  <a:lnTo>
                    <a:pt x="1" y="334"/>
                  </a:lnTo>
                  <a:lnTo>
                    <a:pt x="810" y="643"/>
                  </a:lnTo>
                  <a:lnTo>
                    <a:pt x="1620" y="334"/>
                  </a:lnTo>
                  <a:lnTo>
                    <a:pt x="8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658;p48"/>
            <p:cNvSpPr/>
            <p:nvPr/>
          </p:nvSpPr>
          <p:spPr>
            <a:xfrm>
              <a:off x="1218102" y="2439621"/>
              <a:ext cx="34913" cy="58710"/>
            </a:xfrm>
            <a:custGeom>
              <a:avLst/>
              <a:gdLst/>
              <a:ahLst/>
              <a:cxnLst/>
              <a:rect l="l" t="t" r="r" b="b"/>
              <a:pathLst>
                <a:path w="1049" h="1764" extrusionOk="0">
                  <a:moveTo>
                    <a:pt x="1049" y="1"/>
                  </a:moveTo>
                  <a:lnTo>
                    <a:pt x="1" y="429"/>
                  </a:lnTo>
                  <a:lnTo>
                    <a:pt x="1" y="1763"/>
                  </a:lnTo>
                  <a:lnTo>
                    <a:pt x="1049" y="1358"/>
                  </a:lnTo>
                  <a:lnTo>
                    <a:pt x="1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59;p48"/>
            <p:cNvSpPr/>
            <p:nvPr/>
          </p:nvSpPr>
          <p:spPr>
            <a:xfrm>
              <a:off x="1067526" y="2308049"/>
              <a:ext cx="278208" cy="278242"/>
            </a:xfrm>
            <a:custGeom>
              <a:avLst/>
              <a:gdLst/>
              <a:ahLst/>
              <a:cxnLst/>
              <a:rect l="l" t="t" r="r" b="b"/>
              <a:pathLst>
                <a:path w="8359" h="8360" extrusionOk="0">
                  <a:moveTo>
                    <a:pt x="4191" y="2382"/>
                  </a:moveTo>
                  <a:lnTo>
                    <a:pt x="6287" y="3216"/>
                  </a:lnTo>
                  <a:lnTo>
                    <a:pt x="6287" y="5764"/>
                  </a:lnTo>
                  <a:lnTo>
                    <a:pt x="4191" y="6621"/>
                  </a:lnTo>
                  <a:lnTo>
                    <a:pt x="2096" y="5764"/>
                  </a:lnTo>
                  <a:lnTo>
                    <a:pt x="2096" y="3216"/>
                  </a:lnTo>
                  <a:lnTo>
                    <a:pt x="4191" y="2382"/>
                  </a:lnTo>
                  <a:close/>
                  <a:moveTo>
                    <a:pt x="0" y="1"/>
                  </a:moveTo>
                  <a:lnTo>
                    <a:pt x="0" y="8359"/>
                  </a:lnTo>
                  <a:lnTo>
                    <a:pt x="8359" y="8359"/>
                  </a:lnTo>
                  <a:lnTo>
                    <a:pt x="8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60;p48"/>
            <p:cNvSpPr/>
            <p:nvPr/>
          </p:nvSpPr>
          <p:spPr>
            <a:xfrm>
              <a:off x="1160254" y="2439621"/>
              <a:ext cx="34913" cy="58710"/>
            </a:xfrm>
            <a:custGeom>
              <a:avLst/>
              <a:gdLst/>
              <a:ahLst/>
              <a:cxnLst/>
              <a:rect l="l" t="t" r="r" b="b"/>
              <a:pathLst>
                <a:path w="1049" h="1764" extrusionOk="0">
                  <a:moveTo>
                    <a:pt x="0" y="1"/>
                  </a:moveTo>
                  <a:lnTo>
                    <a:pt x="0" y="1358"/>
                  </a:lnTo>
                  <a:lnTo>
                    <a:pt x="1048" y="1763"/>
                  </a:lnTo>
                  <a:lnTo>
                    <a:pt x="1048" y="42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61;p48"/>
            <p:cNvSpPr/>
            <p:nvPr/>
          </p:nvSpPr>
          <p:spPr>
            <a:xfrm>
              <a:off x="1392509" y="2516506"/>
              <a:ext cx="69760" cy="69793"/>
            </a:xfrm>
            <a:custGeom>
              <a:avLst/>
              <a:gdLst/>
              <a:ahLst/>
              <a:cxnLst/>
              <a:rect l="l" t="t" r="r" b="b"/>
              <a:pathLst>
                <a:path w="2096" h="2097" extrusionOk="0">
                  <a:moveTo>
                    <a:pt x="1381" y="1"/>
                  </a:moveTo>
                  <a:lnTo>
                    <a:pt x="1381" y="1382"/>
                  </a:lnTo>
                  <a:lnTo>
                    <a:pt x="0" y="1382"/>
                  </a:lnTo>
                  <a:lnTo>
                    <a:pt x="0" y="2096"/>
                  </a:lnTo>
                  <a:lnTo>
                    <a:pt x="2096" y="2096"/>
                  </a:lnTo>
                  <a:lnTo>
                    <a:pt x="20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62;p48"/>
            <p:cNvSpPr/>
            <p:nvPr/>
          </p:nvSpPr>
          <p:spPr>
            <a:xfrm>
              <a:off x="1067526" y="2191523"/>
              <a:ext cx="69760" cy="69793"/>
            </a:xfrm>
            <a:custGeom>
              <a:avLst/>
              <a:gdLst/>
              <a:ahLst/>
              <a:cxnLst/>
              <a:rect l="l" t="t" r="r" b="b"/>
              <a:pathLst>
                <a:path w="2096" h="2097" extrusionOk="0">
                  <a:moveTo>
                    <a:pt x="0" y="1"/>
                  </a:moveTo>
                  <a:lnTo>
                    <a:pt x="0" y="2097"/>
                  </a:lnTo>
                  <a:lnTo>
                    <a:pt x="715" y="2097"/>
                  </a:lnTo>
                  <a:lnTo>
                    <a:pt x="715" y="715"/>
                  </a:lnTo>
                  <a:lnTo>
                    <a:pt x="2096" y="715"/>
                  </a:lnTo>
                  <a:lnTo>
                    <a:pt x="20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67"/>
          <p:cNvSpPr/>
          <p:nvPr/>
        </p:nvSpPr>
        <p:spPr>
          <a:xfrm>
            <a:off x="829525" y="928300"/>
            <a:ext cx="3320700" cy="33495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67"/>
          <p:cNvSpPr/>
          <p:nvPr/>
        </p:nvSpPr>
        <p:spPr>
          <a:xfrm>
            <a:off x="4461373" y="876077"/>
            <a:ext cx="724500" cy="724500"/>
          </a:xfrm>
          <a:prstGeom prst="ellipse">
            <a:avLst/>
          </a:prstGeom>
          <a:solidFill>
            <a:srgbClr val="FDFF5C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67"/>
          <p:cNvSpPr txBox="1">
            <a:spLocks noGrp="1"/>
          </p:cNvSpPr>
          <p:nvPr>
            <p:ph type="sldNum" idx="12"/>
          </p:nvPr>
        </p:nvSpPr>
        <p:spPr>
          <a:xfrm>
            <a:off x="8472450" y="4663223"/>
            <a:ext cx="548700" cy="3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177" name="Google Shape;1177;p67"/>
          <p:cNvSpPr txBox="1">
            <a:spLocks noGrp="1"/>
          </p:cNvSpPr>
          <p:nvPr>
            <p:ph type="title"/>
          </p:nvPr>
        </p:nvSpPr>
        <p:spPr>
          <a:xfrm>
            <a:off x="4572000" y="932925"/>
            <a:ext cx="3855300" cy="6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3"/>
                </a:solidFill>
              </a:rPr>
              <a:t>T</a:t>
            </a:r>
            <a:r>
              <a:rPr lang="en" dirty="0" smtClean="0"/>
              <a:t>erima Kasih</a:t>
            </a:r>
            <a:endParaRPr dirty="0"/>
          </a:p>
        </p:txBody>
      </p:sp>
      <p:sp>
        <p:nvSpPr>
          <p:cNvPr id="1178" name="Google Shape;1178;p67"/>
          <p:cNvSpPr txBox="1">
            <a:spLocks noGrp="1"/>
          </p:cNvSpPr>
          <p:nvPr>
            <p:ph type="subTitle" idx="1"/>
          </p:nvPr>
        </p:nvSpPr>
        <p:spPr>
          <a:xfrm>
            <a:off x="4572000" y="1844911"/>
            <a:ext cx="3312368" cy="10296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 smtClean="0"/>
              <a:t>Abimanyu Marvie Dwisuprapto 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18210008</a:t>
            </a:r>
            <a:endParaRPr sz="1800" dirty="0"/>
          </a:p>
        </p:txBody>
      </p:sp>
      <p:grpSp>
        <p:nvGrpSpPr>
          <p:cNvPr id="1187" name="Google Shape;1187;p67"/>
          <p:cNvGrpSpPr/>
          <p:nvPr/>
        </p:nvGrpSpPr>
        <p:grpSpPr>
          <a:xfrm>
            <a:off x="1122970" y="1631272"/>
            <a:ext cx="2733810" cy="2400755"/>
            <a:chOff x="1122970" y="1631272"/>
            <a:chExt cx="2733810" cy="2400755"/>
          </a:xfrm>
        </p:grpSpPr>
        <p:sp>
          <p:nvSpPr>
            <p:cNvPr id="1188" name="Google Shape;1188;p67"/>
            <p:cNvSpPr/>
            <p:nvPr/>
          </p:nvSpPr>
          <p:spPr>
            <a:xfrm>
              <a:off x="1122970" y="3723326"/>
              <a:ext cx="2728010" cy="308702"/>
            </a:xfrm>
            <a:custGeom>
              <a:avLst/>
              <a:gdLst/>
              <a:ahLst/>
              <a:cxnLst/>
              <a:rect l="l" t="t" r="r" b="b"/>
              <a:pathLst>
                <a:path w="170714" h="19318" extrusionOk="0">
                  <a:moveTo>
                    <a:pt x="85337" y="0"/>
                  </a:moveTo>
                  <a:cubicBezTo>
                    <a:pt x="38233" y="0"/>
                    <a:pt x="1" y="4316"/>
                    <a:pt x="1" y="9679"/>
                  </a:cubicBezTo>
                  <a:cubicBezTo>
                    <a:pt x="1" y="15003"/>
                    <a:pt x="38233" y="19318"/>
                    <a:pt x="85337" y="19318"/>
                  </a:cubicBezTo>
                  <a:cubicBezTo>
                    <a:pt x="132482" y="19318"/>
                    <a:pt x="170713" y="15003"/>
                    <a:pt x="170713" y="9679"/>
                  </a:cubicBezTo>
                  <a:cubicBezTo>
                    <a:pt x="170713" y="4316"/>
                    <a:pt x="132482" y="0"/>
                    <a:pt x="8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67"/>
            <p:cNvSpPr/>
            <p:nvPr/>
          </p:nvSpPr>
          <p:spPr>
            <a:xfrm>
              <a:off x="1586342" y="3092404"/>
              <a:ext cx="78638" cy="788182"/>
            </a:xfrm>
            <a:custGeom>
              <a:avLst/>
              <a:gdLst/>
              <a:ahLst/>
              <a:cxnLst/>
              <a:rect l="l" t="t" r="r" b="b"/>
              <a:pathLst>
                <a:path w="4921" h="49323" extrusionOk="0">
                  <a:moveTo>
                    <a:pt x="0" y="0"/>
                  </a:moveTo>
                  <a:lnTo>
                    <a:pt x="0" y="49323"/>
                  </a:lnTo>
                  <a:lnTo>
                    <a:pt x="4920" y="49323"/>
                  </a:lnTo>
                  <a:lnTo>
                    <a:pt x="492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67"/>
            <p:cNvSpPr/>
            <p:nvPr/>
          </p:nvSpPr>
          <p:spPr>
            <a:xfrm>
              <a:off x="1586342" y="3092404"/>
              <a:ext cx="78638" cy="167566"/>
            </a:xfrm>
            <a:custGeom>
              <a:avLst/>
              <a:gdLst/>
              <a:ahLst/>
              <a:cxnLst/>
              <a:rect l="l" t="t" r="r" b="b"/>
              <a:pathLst>
                <a:path w="4921" h="10486" extrusionOk="0">
                  <a:moveTo>
                    <a:pt x="0" y="0"/>
                  </a:moveTo>
                  <a:lnTo>
                    <a:pt x="0" y="10486"/>
                  </a:lnTo>
                  <a:lnTo>
                    <a:pt x="4920" y="10486"/>
                  </a:lnTo>
                  <a:lnTo>
                    <a:pt x="49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67"/>
            <p:cNvSpPr/>
            <p:nvPr/>
          </p:nvSpPr>
          <p:spPr>
            <a:xfrm>
              <a:off x="1746813" y="3049226"/>
              <a:ext cx="77982" cy="788821"/>
            </a:xfrm>
            <a:custGeom>
              <a:avLst/>
              <a:gdLst/>
              <a:ahLst/>
              <a:cxnLst/>
              <a:rect l="l" t="t" r="r" b="b"/>
              <a:pathLst>
                <a:path w="4880" h="49363" extrusionOk="0">
                  <a:moveTo>
                    <a:pt x="0" y="0"/>
                  </a:moveTo>
                  <a:lnTo>
                    <a:pt x="0" y="49363"/>
                  </a:lnTo>
                  <a:lnTo>
                    <a:pt x="4880" y="49363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67"/>
            <p:cNvSpPr/>
            <p:nvPr/>
          </p:nvSpPr>
          <p:spPr>
            <a:xfrm>
              <a:off x="1746813" y="3049226"/>
              <a:ext cx="77982" cy="210744"/>
            </a:xfrm>
            <a:custGeom>
              <a:avLst/>
              <a:gdLst/>
              <a:ahLst/>
              <a:cxnLst/>
              <a:rect l="l" t="t" r="r" b="b"/>
              <a:pathLst>
                <a:path w="4880" h="13188" extrusionOk="0">
                  <a:moveTo>
                    <a:pt x="0" y="0"/>
                  </a:moveTo>
                  <a:lnTo>
                    <a:pt x="0" y="13188"/>
                  </a:lnTo>
                  <a:lnTo>
                    <a:pt x="4880" y="13188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67"/>
            <p:cNvSpPr/>
            <p:nvPr/>
          </p:nvSpPr>
          <p:spPr>
            <a:xfrm>
              <a:off x="2348092" y="3092404"/>
              <a:ext cx="77982" cy="788182"/>
            </a:xfrm>
            <a:custGeom>
              <a:avLst/>
              <a:gdLst/>
              <a:ahLst/>
              <a:cxnLst/>
              <a:rect l="l" t="t" r="r" b="b"/>
              <a:pathLst>
                <a:path w="4880" h="49323" extrusionOk="0">
                  <a:moveTo>
                    <a:pt x="0" y="0"/>
                  </a:moveTo>
                  <a:lnTo>
                    <a:pt x="0" y="49323"/>
                  </a:lnTo>
                  <a:lnTo>
                    <a:pt x="4880" y="49323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67"/>
            <p:cNvSpPr/>
            <p:nvPr/>
          </p:nvSpPr>
          <p:spPr>
            <a:xfrm>
              <a:off x="2348092" y="3092404"/>
              <a:ext cx="77982" cy="167566"/>
            </a:xfrm>
            <a:custGeom>
              <a:avLst/>
              <a:gdLst/>
              <a:ahLst/>
              <a:cxnLst/>
              <a:rect l="l" t="t" r="r" b="b"/>
              <a:pathLst>
                <a:path w="4880" h="10486" extrusionOk="0">
                  <a:moveTo>
                    <a:pt x="0" y="0"/>
                  </a:moveTo>
                  <a:lnTo>
                    <a:pt x="0" y="10486"/>
                  </a:lnTo>
                  <a:lnTo>
                    <a:pt x="4880" y="10486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67"/>
            <p:cNvSpPr/>
            <p:nvPr/>
          </p:nvSpPr>
          <p:spPr>
            <a:xfrm>
              <a:off x="2507908" y="3049226"/>
              <a:ext cx="77998" cy="788821"/>
            </a:xfrm>
            <a:custGeom>
              <a:avLst/>
              <a:gdLst/>
              <a:ahLst/>
              <a:cxnLst/>
              <a:rect l="l" t="t" r="r" b="b"/>
              <a:pathLst>
                <a:path w="4881" h="49363" extrusionOk="0">
                  <a:moveTo>
                    <a:pt x="1" y="0"/>
                  </a:moveTo>
                  <a:lnTo>
                    <a:pt x="1" y="49363"/>
                  </a:lnTo>
                  <a:lnTo>
                    <a:pt x="4881" y="49363"/>
                  </a:lnTo>
                  <a:lnTo>
                    <a:pt x="48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67"/>
            <p:cNvSpPr/>
            <p:nvPr/>
          </p:nvSpPr>
          <p:spPr>
            <a:xfrm>
              <a:off x="2507908" y="3049226"/>
              <a:ext cx="77998" cy="210744"/>
            </a:xfrm>
            <a:custGeom>
              <a:avLst/>
              <a:gdLst/>
              <a:ahLst/>
              <a:cxnLst/>
              <a:rect l="l" t="t" r="r" b="b"/>
              <a:pathLst>
                <a:path w="4881" h="13188" extrusionOk="0">
                  <a:moveTo>
                    <a:pt x="1" y="0"/>
                  </a:moveTo>
                  <a:lnTo>
                    <a:pt x="1" y="13188"/>
                  </a:lnTo>
                  <a:lnTo>
                    <a:pt x="4881" y="13188"/>
                  </a:lnTo>
                  <a:lnTo>
                    <a:pt x="48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67"/>
            <p:cNvSpPr/>
            <p:nvPr/>
          </p:nvSpPr>
          <p:spPr>
            <a:xfrm>
              <a:off x="1516094" y="2957708"/>
              <a:ext cx="1099456" cy="189491"/>
            </a:xfrm>
            <a:custGeom>
              <a:avLst/>
              <a:gdLst/>
              <a:ahLst/>
              <a:cxnLst/>
              <a:rect l="l" t="t" r="r" b="b"/>
              <a:pathLst>
                <a:path w="68802" h="11858" extrusionOk="0">
                  <a:moveTo>
                    <a:pt x="34401" y="0"/>
                  </a:moveTo>
                  <a:cubicBezTo>
                    <a:pt x="27505" y="0"/>
                    <a:pt x="21052" y="363"/>
                    <a:pt x="15688" y="968"/>
                  </a:cubicBezTo>
                  <a:lnTo>
                    <a:pt x="0" y="968"/>
                  </a:lnTo>
                  <a:lnTo>
                    <a:pt x="0" y="5929"/>
                  </a:lnTo>
                  <a:cubicBezTo>
                    <a:pt x="0" y="9195"/>
                    <a:pt x="15406" y="11857"/>
                    <a:pt x="34401" y="11857"/>
                  </a:cubicBezTo>
                  <a:cubicBezTo>
                    <a:pt x="53396" y="11857"/>
                    <a:pt x="68802" y="9195"/>
                    <a:pt x="68802" y="5929"/>
                  </a:cubicBezTo>
                  <a:lnTo>
                    <a:pt x="68802" y="968"/>
                  </a:lnTo>
                  <a:lnTo>
                    <a:pt x="53154" y="968"/>
                  </a:lnTo>
                  <a:cubicBezTo>
                    <a:pt x="47750" y="363"/>
                    <a:pt x="41338" y="0"/>
                    <a:pt x="34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67"/>
            <p:cNvSpPr/>
            <p:nvPr/>
          </p:nvSpPr>
          <p:spPr>
            <a:xfrm>
              <a:off x="1516094" y="2874564"/>
              <a:ext cx="1099456" cy="189491"/>
            </a:xfrm>
            <a:custGeom>
              <a:avLst/>
              <a:gdLst/>
              <a:ahLst/>
              <a:cxnLst/>
              <a:rect l="l" t="t" r="r" b="b"/>
              <a:pathLst>
                <a:path w="68802" h="11858" extrusionOk="0">
                  <a:moveTo>
                    <a:pt x="34401" y="1"/>
                  </a:moveTo>
                  <a:cubicBezTo>
                    <a:pt x="15406" y="1"/>
                    <a:pt x="0" y="2663"/>
                    <a:pt x="0" y="5929"/>
                  </a:cubicBezTo>
                  <a:cubicBezTo>
                    <a:pt x="0" y="9196"/>
                    <a:pt x="15406" y="11858"/>
                    <a:pt x="34401" y="11858"/>
                  </a:cubicBezTo>
                  <a:cubicBezTo>
                    <a:pt x="53396" y="11858"/>
                    <a:pt x="68802" y="9196"/>
                    <a:pt x="68802" y="5929"/>
                  </a:cubicBezTo>
                  <a:cubicBezTo>
                    <a:pt x="68802" y="2663"/>
                    <a:pt x="53396" y="1"/>
                    <a:pt x="34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67"/>
            <p:cNvSpPr/>
            <p:nvPr/>
          </p:nvSpPr>
          <p:spPr>
            <a:xfrm>
              <a:off x="1628865" y="2898336"/>
              <a:ext cx="833948" cy="105069"/>
            </a:xfrm>
            <a:custGeom>
              <a:avLst/>
              <a:gdLst/>
              <a:ahLst/>
              <a:cxnLst/>
              <a:rect l="l" t="t" r="r" b="b"/>
              <a:pathLst>
                <a:path w="52187" h="6575" extrusionOk="0">
                  <a:moveTo>
                    <a:pt x="13386" y="1"/>
                  </a:moveTo>
                  <a:cubicBezTo>
                    <a:pt x="12908" y="1"/>
                    <a:pt x="1" y="6575"/>
                    <a:pt x="1" y="6575"/>
                  </a:cubicBezTo>
                  <a:lnTo>
                    <a:pt x="43839" y="6575"/>
                  </a:lnTo>
                  <a:lnTo>
                    <a:pt x="52187" y="324"/>
                  </a:lnTo>
                  <a:lnTo>
                    <a:pt x="22303" y="324"/>
                  </a:lnTo>
                  <a:lnTo>
                    <a:pt x="13390" y="1"/>
                  </a:lnTo>
                  <a:cubicBezTo>
                    <a:pt x="13389" y="1"/>
                    <a:pt x="13388" y="1"/>
                    <a:pt x="13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67"/>
            <p:cNvSpPr/>
            <p:nvPr/>
          </p:nvSpPr>
          <p:spPr>
            <a:xfrm>
              <a:off x="1948529" y="2007122"/>
              <a:ext cx="170794" cy="898396"/>
            </a:xfrm>
            <a:custGeom>
              <a:avLst/>
              <a:gdLst/>
              <a:ahLst/>
              <a:cxnLst/>
              <a:rect l="l" t="t" r="r" b="b"/>
              <a:pathLst>
                <a:path w="10688" h="56220" extrusionOk="0">
                  <a:moveTo>
                    <a:pt x="0" y="1"/>
                  </a:moveTo>
                  <a:lnTo>
                    <a:pt x="0" y="56220"/>
                  </a:lnTo>
                  <a:lnTo>
                    <a:pt x="10687" y="56220"/>
                  </a:lnTo>
                  <a:lnTo>
                    <a:pt x="106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67"/>
            <p:cNvSpPr/>
            <p:nvPr/>
          </p:nvSpPr>
          <p:spPr>
            <a:xfrm>
              <a:off x="1948528" y="1982641"/>
              <a:ext cx="205599" cy="24497"/>
            </a:xfrm>
            <a:custGeom>
              <a:avLst/>
              <a:gdLst/>
              <a:ahLst/>
              <a:cxnLst/>
              <a:rect l="l" t="t" r="r" b="b"/>
              <a:pathLst>
                <a:path w="12866" h="1533" extrusionOk="0">
                  <a:moveTo>
                    <a:pt x="2742" y="0"/>
                  </a:moveTo>
                  <a:lnTo>
                    <a:pt x="0" y="1533"/>
                  </a:lnTo>
                  <a:lnTo>
                    <a:pt x="10687" y="1533"/>
                  </a:lnTo>
                  <a:lnTo>
                    <a:pt x="12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67"/>
            <p:cNvSpPr/>
            <p:nvPr/>
          </p:nvSpPr>
          <p:spPr>
            <a:xfrm>
              <a:off x="2119307" y="1980777"/>
              <a:ext cx="34820" cy="934478"/>
            </a:xfrm>
            <a:custGeom>
              <a:avLst/>
              <a:gdLst/>
              <a:ahLst/>
              <a:cxnLst/>
              <a:rect l="l" t="t" r="r" b="b"/>
              <a:pathLst>
                <a:path w="2179" h="58478" extrusionOk="0">
                  <a:moveTo>
                    <a:pt x="2178" y="0"/>
                  </a:moveTo>
                  <a:lnTo>
                    <a:pt x="0" y="1533"/>
                  </a:lnTo>
                  <a:lnTo>
                    <a:pt x="0" y="58478"/>
                  </a:lnTo>
                  <a:lnTo>
                    <a:pt x="2178" y="57187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67"/>
            <p:cNvSpPr/>
            <p:nvPr/>
          </p:nvSpPr>
          <p:spPr>
            <a:xfrm>
              <a:off x="2074834" y="2339666"/>
              <a:ext cx="283581" cy="586482"/>
            </a:xfrm>
            <a:custGeom>
              <a:avLst/>
              <a:gdLst/>
              <a:ahLst/>
              <a:cxnLst/>
              <a:rect l="l" t="t" r="r" b="b"/>
              <a:pathLst>
                <a:path w="17746" h="36701" extrusionOk="0">
                  <a:moveTo>
                    <a:pt x="1" y="1"/>
                  </a:moveTo>
                  <a:lnTo>
                    <a:pt x="1" y="36700"/>
                  </a:lnTo>
                  <a:lnTo>
                    <a:pt x="17745" y="36700"/>
                  </a:lnTo>
                  <a:lnTo>
                    <a:pt x="177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67"/>
            <p:cNvSpPr/>
            <p:nvPr/>
          </p:nvSpPr>
          <p:spPr>
            <a:xfrm>
              <a:off x="2074834" y="2316393"/>
              <a:ext cx="319664" cy="25153"/>
            </a:xfrm>
            <a:custGeom>
              <a:avLst/>
              <a:gdLst/>
              <a:ahLst/>
              <a:cxnLst/>
              <a:rect l="l" t="t" r="r" b="b"/>
              <a:pathLst>
                <a:path w="20004" h="1574" extrusionOk="0">
                  <a:moveTo>
                    <a:pt x="2824" y="1"/>
                  </a:moveTo>
                  <a:lnTo>
                    <a:pt x="1" y="1574"/>
                  </a:lnTo>
                  <a:lnTo>
                    <a:pt x="17745" y="1574"/>
                  </a:lnTo>
                  <a:lnTo>
                    <a:pt x="200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67"/>
            <p:cNvSpPr/>
            <p:nvPr/>
          </p:nvSpPr>
          <p:spPr>
            <a:xfrm>
              <a:off x="2358400" y="2314529"/>
              <a:ext cx="36099" cy="611619"/>
            </a:xfrm>
            <a:custGeom>
              <a:avLst/>
              <a:gdLst/>
              <a:ahLst/>
              <a:cxnLst/>
              <a:rect l="l" t="t" r="r" b="b"/>
              <a:pathLst>
                <a:path w="2259" h="38274" extrusionOk="0">
                  <a:moveTo>
                    <a:pt x="2259" y="1"/>
                  </a:moveTo>
                  <a:lnTo>
                    <a:pt x="0" y="1574"/>
                  </a:lnTo>
                  <a:lnTo>
                    <a:pt x="0" y="38273"/>
                  </a:lnTo>
                  <a:lnTo>
                    <a:pt x="2259" y="36983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67"/>
            <p:cNvSpPr/>
            <p:nvPr/>
          </p:nvSpPr>
          <p:spPr>
            <a:xfrm>
              <a:off x="1846049" y="2371242"/>
              <a:ext cx="170155" cy="554250"/>
            </a:xfrm>
            <a:custGeom>
              <a:avLst/>
              <a:gdLst/>
              <a:ahLst/>
              <a:cxnLst/>
              <a:rect l="l" t="t" r="r" b="b"/>
              <a:pathLst>
                <a:path w="10648" h="34684" extrusionOk="0">
                  <a:moveTo>
                    <a:pt x="1" y="1"/>
                  </a:moveTo>
                  <a:lnTo>
                    <a:pt x="1" y="34684"/>
                  </a:lnTo>
                  <a:lnTo>
                    <a:pt x="10648" y="34684"/>
                  </a:lnTo>
                  <a:lnTo>
                    <a:pt x="106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67"/>
            <p:cNvSpPr/>
            <p:nvPr/>
          </p:nvSpPr>
          <p:spPr>
            <a:xfrm>
              <a:off x="1798364" y="2745030"/>
              <a:ext cx="217839" cy="46422"/>
            </a:xfrm>
            <a:custGeom>
              <a:avLst/>
              <a:gdLst/>
              <a:ahLst/>
              <a:cxnLst/>
              <a:rect l="l" t="t" r="r" b="b"/>
              <a:pathLst>
                <a:path w="13632" h="2905" extrusionOk="0">
                  <a:moveTo>
                    <a:pt x="3267" y="1"/>
                  </a:moveTo>
                  <a:lnTo>
                    <a:pt x="0" y="2904"/>
                  </a:lnTo>
                  <a:lnTo>
                    <a:pt x="11373" y="2904"/>
                  </a:lnTo>
                  <a:cubicBezTo>
                    <a:pt x="11373" y="2904"/>
                    <a:pt x="13591" y="202"/>
                    <a:pt x="13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67"/>
            <p:cNvSpPr/>
            <p:nvPr/>
          </p:nvSpPr>
          <p:spPr>
            <a:xfrm>
              <a:off x="1980105" y="2745030"/>
              <a:ext cx="36099" cy="62530"/>
            </a:xfrm>
            <a:custGeom>
              <a:avLst/>
              <a:gdLst/>
              <a:ahLst/>
              <a:cxnLst/>
              <a:rect l="l" t="t" r="r" b="b"/>
              <a:pathLst>
                <a:path w="2259" h="3913" extrusionOk="0">
                  <a:moveTo>
                    <a:pt x="2259" y="1"/>
                  </a:moveTo>
                  <a:lnTo>
                    <a:pt x="0" y="2904"/>
                  </a:lnTo>
                  <a:lnTo>
                    <a:pt x="2259" y="3913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67"/>
            <p:cNvSpPr/>
            <p:nvPr/>
          </p:nvSpPr>
          <p:spPr>
            <a:xfrm>
              <a:off x="1846049" y="2349264"/>
              <a:ext cx="205599" cy="23858"/>
            </a:xfrm>
            <a:custGeom>
              <a:avLst/>
              <a:gdLst/>
              <a:ahLst/>
              <a:cxnLst/>
              <a:rect l="l" t="t" r="r" b="b"/>
              <a:pathLst>
                <a:path w="12866" h="1493" extrusionOk="0">
                  <a:moveTo>
                    <a:pt x="2743" y="1"/>
                  </a:moveTo>
                  <a:lnTo>
                    <a:pt x="1" y="1493"/>
                  </a:lnTo>
                  <a:lnTo>
                    <a:pt x="10648" y="1493"/>
                  </a:lnTo>
                  <a:lnTo>
                    <a:pt x="128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67"/>
            <p:cNvSpPr/>
            <p:nvPr/>
          </p:nvSpPr>
          <p:spPr>
            <a:xfrm>
              <a:off x="2016188" y="2347400"/>
              <a:ext cx="35460" cy="578092"/>
            </a:xfrm>
            <a:custGeom>
              <a:avLst/>
              <a:gdLst/>
              <a:ahLst/>
              <a:cxnLst/>
              <a:rect l="l" t="t" r="r" b="b"/>
              <a:pathLst>
                <a:path w="2219" h="36176" extrusionOk="0">
                  <a:moveTo>
                    <a:pt x="2219" y="1"/>
                  </a:moveTo>
                  <a:lnTo>
                    <a:pt x="1" y="1493"/>
                  </a:lnTo>
                  <a:lnTo>
                    <a:pt x="1" y="36176"/>
                  </a:lnTo>
                  <a:lnTo>
                    <a:pt x="2219" y="34926"/>
                  </a:lnTo>
                  <a:lnTo>
                    <a:pt x="22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67"/>
            <p:cNvSpPr/>
            <p:nvPr/>
          </p:nvSpPr>
          <p:spPr>
            <a:xfrm>
              <a:off x="2284923" y="2288753"/>
              <a:ext cx="7750" cy="38688"/>
            </a:xfrm>
            <a:custGeom>
              <a:avLst/>
              <a:gdLst/>
              <a:ahLst/>
              <a:cxnLst/>
              <a:rect l="l" t="t" r="r" b="b"/>
              <a:pathLst>
                <a:path w="485" h="2421" extrusionOk="0">
                  <a:moveTo>
                    <a:pt x="1" y="1"/>
                  </a:moveTo>
                  <a:lnTo>
                    <a:pt x="1" y="2420"/>
                  </a:lnTo>
                  <a:lnTo>
                    <a:pt x="485" y="2420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67"/>
            <p:cNvSpPr/>
            <p:nvPr/>
          </p:nvSpPr>
          <p:spPr>
            <a:xfrm>
              <a:off x="2174725" y="2288753"/>
              <a:ext cx="7750" cy="38688"/>
            </a:xfrm>
            <a:custGeom>
              <a:avLst/>
              <a:gdLst/>
              <a:ahLst/>
              <a:cxnLst/>
              <a:rect l="l" t="t" r="r" b="b"/>
              <a:pathLst>
                <a:path w="485" h="2421" extrusionOk="0">
                  <a:moveTo>
                    <a:pt x="1" y="1"/>
                  </a:moveTo>
                  <a:lnTo>
                    <a:pt x="1" y="2420"/>
                  </a:lnTo>
                  <a:lnTo>
                    <a:pt x="485" y="2420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67"/>
            <p:cNvSpPr/>
            <p:nvPr/>
          </p:nvSpPr>
          <p:spPr>
            <a:xfrm>
              <a:off x="2114784" y="2229468"/>
              <a:ext cx="245565" cy="62530"/>
            </a:xfrm>
            <a:custGeom>
              <a:avLst/>
              <a:gdLst/>
              <a:ahLst/>
              <a:cxnLst/>
              <a:rect l="l" t="t" r="r" b="b"/>
              <a:pathLst>
                <a:path w="15367" h="3913" extrusionOk="0">
                  <a:moveTo>
                    <a:pt x="808" y="0"/>
                  </a:moveTo>
                  <a:cubicBezTo>
                    <a:pt x="364" y="0"/>
                    <a:pt x="1" y="363"/>
                    <a:pt x="1" y="807"/>
                  </a:cubicBezTo>
                  <a:lnTo>
                    <a:pt x="1" y="3106"/>
                  </a:lnTo>
                  <a:cubicBezTo>
                    <a:pt x="1" y="3549"/>
                    <a:pt x="364" y="3912"/>
                    <a:pt x="808" y="3912"/>
                  </a:cubicBezTo>
                  <a:lnTo>
                    <a:pt x="14560" y="3912"/>
                  </a:lnTo>
                  <a:cubicBezTo>
                    <a:pt x="15003" y="3912"/>
                    <a:pt x="15366" y="3549"/>
                    <a:pt x="15366" y="3106"/>
                  </a:cubicBezTo>
                  <a:lnTo>
                    <a:pt x="15366" y="807"/>
                  </a:lnTo>
                  <a:cubicBezTo>
                    <a:pt x="15366" y="363"/>
                    <a:pt x="15003" y="0"/>
                    <a:pt x="14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7"/>
            <p:cNvSpPr/>
            <p:nvPr/>
          </p:nvSpPr>
          <p:spPr>
            <a:xfrm>
              <a:off x="2109639" y="2236563"/>
              <a:ext cx="244909" cy="62514"/>
            </a:xfrm>
            <a:custGeom>
              <a:avLst/>
              <a:gdLst/>
              <a:ahLst/>
              <a:cxnLst/>
              <a:rect l="l" t="t" r="r" b="b"/>
              <a:pathLst>
                <a:path w="15326" h="3912" extrusionOk="0">
                  <a:moveTo>
                    <a:pt x="807" y="0"/>
                  </a:moveTo>
                  <a:cubicBezTo>
                    <a:pt x="363" y="0"/>
                    <a:pt x="0" y="363"/>
                    <a:pt x="0" y="807"/>
                  </a:cubicBezTo>
                  <a:lnTo>
                    <a:pt x="0" y="3105"/>
                  </a:lnTo>
                  <a:cubicBezTo>
                    <a:pt x="0" y="3549"/>
                    <a:pt x="363" y="3912"/>
                    <a:pt x="807" y="3912"/>
                  </a:cubicBezTo>
                  <a:lnTo>
                    <a:pt x="14519" y="3912"/>
                  </a:lnTo>
                  <a:cubicBezTo>
                    <a:pt x="14962" y="3912"/>
                    <a:pt x="15325" y="3549"/>
                    <a:pt x="15325" y="3105"/>
                  </a:cubicBezTo>
                  <a:lnTo>
                    <a:pt x="15325" y="807"/>
                  </a:lnTo>
                  <a:cubicBezTo>
                    <a:pt x="15325" y="363"/>
                    <a:pt x="14962" y="0"/>
                    <a:pt x="14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7"/>
            <p:cNvSpPr/>
            <p:nvPr/>
          </p:nvSpPr>
          <p:spPr>
            <a:xfrm>
              <a:off x="2023283" y="2739885"/>
              <a:ext cx="335133" cy="46406"/>
            </a:xfrm>
            <a:custGeom>
              <a:avLst/>
              <a:gdLst/>
              <a:ahLst/>
              <a:cxnLst/>
              <a:rect l="l" t="t" r="r" b="b"/>
              <a:pathLst>
                <a:path w="20972" h="2904" extrusionOk="0">
                  <a:moveTo>
                    <a:pt x="3227" y="0"/>
                  </a:moveTo>
                  <a:lnTo>
                    <a:pt x="0" y="2904"/>
                  </a:lnTo>
                  <a:lnTo>
                    <a:pt x="18713" y="2904"/>
                  </a:lnTo>
                  <a:cubicBezTo>
                    <a:pt x="18713" y="2904"/>
                    <a:pt x="20891" y="202"/>
                    <a:pt x="209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7"/>
            <p:cNvSpPr/>
            <p:nvPr/>
          </p:nvSpPr>
          <p:spPr>
            <a:xfrm>
              <a:off x="2322301" y="2739885"/>
              <a:ext cx="36115" cy="62530"/>
            </a:xfrm>
            <a:custGeom>
              <a:avLst/>
              <a:gdLst/>
              <a:ahLst/>
              <a:cxnLst/>
              <a:rect l="l" t="t" r="r" b="b"/>
              <a:pathLst>
                <a:path w="2260" h="3913" extrusionOk="0">
                  <a:moveTo>
                    <a:pt x="2259" y="0"/>
                  </a:moveTo>
                  <a:lnTo>
                    <a:pt x="1" y="2904"/>
                  </a:lnTo>
                  <a:lnTo>
                    <a:pt x="2259" y="3912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7"/>
            <p:cNvSpPr/>
            <p:nvPr/>
          </p:nvSpPr>
          <p:spPr>
            <a:xfrm>
              <a:off x="2023283" y="2786275"/>
              <a:ext cx="51567" cy="22580"/>
            </a:xfrm>
            <a:custGeom>
              <a:avLst/>
              <a:gdLst/>
              <a:ahLst/>
              <a:cxnLst/>
              <a:rect l="l" t="t" r="r" b="b"/>
              <a:pathLst>
                <a:path w="3227" h="1413" extrusionOk="0">
                  <a:moveTo>
                    <a:pt x="0" y="1"/>
                  </a:moveTo>
                  <a:lnTo>
                    <a:pt x="3227" y="1412"/>
                  </a:lnTo>
                  <a:lnTo>
                    <a:pt x="32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7"/>
            <p:cNvSpPr/>
            <p:nvPr/>
          </p:nvSpPr>
          <p:spPr>
            <a:xfrm>
              <a:off x="2127680" y="2857108"/>
              <a:ext cx="154686" cy="70248"/>
            </a:xfrm>
            <a:custGeom>
              <a:avLst/>
              <a:gdLst/>
              <a:ahLst/>
              <a:cxnLst/>
              <a:rect l="l" t="t" r="r" b="b"/>
              <a:pathLst>
                <a:path w="9680" h="4396" extrusionOk="0">
                  <a:moveTo>
                    <a:pt x="1" y="0"/>
                  </a:moveTo>
                  <a:lnTo>
                    <a:pt x="1" y="4396"/>
                  </a:lnTo>
                  <a:lnTo>
                    <a:pt x="9680" y="4396"/>
                  </a:lnTo>
                  <a:lnTo>
                    <a:pt x="9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7"/>
            <p:cNvSpPr/>
            <p:nvPr/>
          </p:nvSpPr>
          <p:spPr>
            <a:xfrm>
              <a:off x="1872480" y="2856176"/>
              <a:ext cx="109575" cy="70248"/>
            </a:xfrm>
            <a:custGeom>
              <a:avLst/>
              <a:gdLst/>
              <a:ahLst/>
              <a:cxnLst/>
              <a:rect l="l" t="t" r="r" b="b"/>
              <a:pathLst>
                <a:path w="6857" h="4396" extrusionOk="0">
                  <a:moveTo>
                    <a:pt x="0" y="0"/>
                  </a:moveTo>
                  <a:lnTo>
                    <a:pt x="0" y="4396"/>
                  </a:lnTo>
                  <a:lnTo>
                    <a:pt x="6856" y="4396"/>
                  </a:lnTo>
                  <a:lnTo>
                    <a:pt x="68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67"/>
            <p:cNvSpPr/>
            <p:nvPr/>
          </p:nvSpPr>
          <p:spPr>
            <a:xfrm>
              <a:off x="1971076" y="1631416"/>
              <a:ext cx="200437" cy="303556"/>
            </a:xfrm>
            <a:custGeom>
              <a:avLst/>
              <a:gdLst/>
              <a:ahLst/>
              <a:cxnLst/>
              <a:rect l="l" t="t" r="r" b="b"/>
              <a:pathLst>
                <a:path w="12543" h="18996" extrusionOk="0">
                  <a:moveTo>
                    <a:pt x="6252" y="2339"/>
                  </a:moveTo>
                  <a:cubicBezTo>
                    <a:pt x="8389" y="2339"/>
                    <a:pt x="10123" y="4033"/>
                    <a:pt x="10123" y="6170"/>
                  </a:cubicBezTo>
                  <a:cubicBezTo>
                    <a:pt x="10123" y="8308"/>
                    <a:pt x="8389" y="10002"/>
                    <a:pt x="6252" y="10002"/>
                  </a:cubicBezTo>
                  <a:cubicBezTo>
                    <a:pt x="4154" y="10002"/>
                    <a:pt x="2420" y="8308"/>
                    <a:pt x="2420" y="6170"/>
                  </a:cubicBezTo>
                  <a:cubicBezTo>
                    <a:pt x="2420" y="4033"/>
                    <a:pt x="4154" y="2339"/>
                    <a:pt x="6252" y="2339"/>
                  </a:cubicBezTo>
                  <a:close/>
                  <a:moveTo>
                    <a:pt x="6252" y="0"/>
                  </a:moveTo>
                  <a:cubicBezTo>
                    <a:pt x="2824" y="0"/>
                    <a:pt x="1" y="2783"/>
                    <a:pt x="1" y="6251"/>
                  </a:cubicBezTo>
                  <a:cubicBezTo>
                    <a:pt x="1" y="7703"/>
                    <a:pt x="525" y="9074"/>
                    <a:pt x="1372" y="10123"/>
                  </a:cubicBezTo>
                  <a:lnTo>
                    <a:pt x="1331" y="10123"/>
                  </a:lnTo>
                  <a:lnTo>
                    <a:pt x="6252" y="18995"/>
                  </a:lnTo>
                  <a:lnTo>
                    <a:pt x="11172" y="10123"/>
                  </a:lnTo>
                  <a:cubicBezTo>
                    <a:pt x="12019" y="9074"/>
                    <a:pt x="12543" y="7703"/>
                    <a:pt x="12543" y="6251"/>
                  </a:cubicBezTo>
                  <a:cubicBezTo>
                    <a:pt x="12543" y="2783"/>
                    <a:pt x="9720" y="0"/>
                    <a:pt x="62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67"/>
            <p:cNvSpPr/>
            <p:nvPr/>
          </p:nvSpPr>
          <p:spPr>
            <a:xfrm>
              <a:off x="3609474" y="2476295"/>
              <a:ext cx="84263" cy="112819"/>
            </a:xfrm>
            <a:custGeom>
              <a:avLst/>
              <a:gdLst/>
              <a:ahLst/>
              <a:cxnLst/>
              <a:rect l="l" t="t" r="r" b="b"/>
              <a:pathLst>
                <a:path w="5273" h="7060" extrusionOk="0">
                  <a:moveTo>
                    <a:pt x="2328" y="1"/>
                  </a:moveTo>
                  <a:lnTo>
                    <a:pt x="594" y="686"/>
                  </a:lnTo>
                  <a:cubicBezTo>
                    <a:pt x="594" y="686"/>
                    <a:pt x="0" y="7060"/>
                    <a:pt x="1833" y="7060"/>
                  </a:cubicBezTo>
                  <a:cubicBezTo>
                    <a:pt x="1850" y="7060"/>
                    <a:pt x="1867" y="7059"/>
                    <a:pt x="1885" y="7058"/>
                  </a:cubicBezTo>
                  <a:cubicBezTo>
                    <a:pt x="3780" y="6937"/>
                    <a:pt x="5272" y="4759"/>
                    <a:pt x="5272" y="4759"/>
                  </a:cubicBezTo>
                  <a:lnTo>
                    <a:pt x="2328" y="1"/>
                  </a:lnTo>
                  <a:close/>
                </a:path>
              </a:pathLst>
            </a:custGeom>
            <a:solidFill>
              <a:srgbClr val="ED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67"/>
            <p:cNvSpPr/>
            <p:nvPr/>
          </p:nvSpPr>
          <p:spPr>
            <a:xfrm>
              <a:off x="3644742" y="2453731"/>
              <a:ext cx="82505" cy="98629"/>
            </a:xfrm>
            <a:custGeom>
              <a:avLst/>
              <a:gdLst/>
              <a:ahLst/>
              <a:cxnLst/>
              <a:rect l="l" t="t" r="r" b="b"/>
              <a:pathLst>
                <a:path w="5163" h="6172" extrusionOk="0">
                  <a:moveTo>
                    <a:pt x="1607" y="0"/>
                  </a:moveTo>
                  <a:cubicBezTo>
                    <a:pt x="1417" y="0"/>
                    <a:pt x="0" y="1614"/>
                    <a:pt x="0" y="1614"/>
                  </a:cubicBezTo>
                  <a:lnTo>
                    <a:pt x="3065" y="6171"/>
                  </a:lnTo>
                  <a:lnTo>
                    <a:pt x="5162" y="4800"/>
                  </a:lnTo>
                  <a:lnTo>
                    <a:pt x="1613" y="1"/>
                  </a:lnTo>
                  <a:cubicBezTo>
                    <a:pt x="1611" y="1"/>
                    <a:pt x="1609" y="0"/>
                    <a:pt x="1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67"/>
            <p:cNvSpPr/>
            <p:nvPr/>
          </p:nvSpPr>
          <p:spPr>
            <a:xfrm>
              <a:off x="2776005" y="2067191"/>
              <a:ext cx="195931" cy="214388"/>
            </a:xfrm>
            <a:custGeom>
              <a:avLst/>
              <a:gdLst/>
              <a:ahLst/>
              <a:cxnLst/>
              <a:rect l="l" t="t" r="r" b="b"/>
              <a:pathLst>
                <a:path w="12261" h="13416" extrusionOk="0">
                  <a:moveTo>
                    <a:pt x="6162" y="1"/>
                  </a:moveTo>
                  <a:cubicBezTo>
                    <a:pt x="6069" y="1"/>
                    <a:pt x="5975" y="24"/>
                    <a:pt x="5889" y="73"/>
                  </a:cubicBezTo>
                  <a:lnTo>
                    <a:pt x="444" y="2775"/>
                  </a:lnTo>
                  <a:cubicBezTo>
                    <a:pt x="122" y="2937"/>
                    <a:pt x="1" y="3380"/>
                    <a:pt x="243" y="3662"/>
                  </a:cubicBezTo>
                  <a:lnTo>
                    <a:pt x="7744" y="13180"/>
                  </a:lnTo>
                  <a:cubicBezTo>
                    <a:pt x="7867" y="13328"/>
                    <a:pt x="8035" y="13415"/>
                    <a:pt x="8212" y="13415"/>
                  </a:cubicBezTo>
                  <a:cubicBezTo>
                    <a:pt x="8324" y="13415"/>
                    <a:pt x="8440" y="13380"/>
                    <a:pt x="8550" y="13301"/>
                  </a:cubicBezTo>
                  <a:lnTo>
                    <a:pt x="11938" y="11002"/>
                  </a:lnTo>
                  <a:cubicBezTo>
                    <a:pt x="12180" y="10841"/>
                    <a:pt x="12261" y="10518"/>
                    <a:pt x="12140" y="10236"/>
                  </a:cubicBezTo>
                  <a:lnTo>
                    <a:pt x="6695" y="315"/>
                  </a:lnTo>
                  <a:cubicBezTo>
                    <a:pt x="6583" y="119"/>
                    <a:pt x="6374" y="1"/>
                    <a:pt x="6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67"/>
            <p:cNvSpPr/>
            <p:nvPr/>
          </p:nvSpPr>
          <p:spPr>
            <a:xfrm>
              <a:off x="2786967" y="2073391"/>
              <a:ext cx="175956" cy="192271"/>
            </a:xfrm>
            <a:custGeom>
              <a:avLst/>
              <a:gdLst/>
              <a:ahLst/>
              <a:cxnLst/>
              <a:rect l="l" t="t" r="r" b="b"/>
              <a:pathLst>
                <a:path w="11011" h="12032" extrusionOk="0">
                  <a:moveTo>
                    <a:pt x="5474" y="1"/>
                  </a:moveTo>
                  <a:cubicBezTo>
                    <a:pt x="5397" y="1"/>
                    <a:pt x="5319" y="16"/>
                    <a:pt x="5243" y="48"/>
                  </a:cubicBezTo>
                  <a:lnTo>
                    <a:pt x="4396" y="492"/>
                  </a:lnTo>
                  <a:cubicBezTo>
                    <a:pt x="4517" y="895"/>
                    <a:pt x="4315" y="1056"/>
                    <a:pt x="4315" y="1056"/>
                  </a:cubicBezTo>
                  <a:cubicBezTo>
                    <a:pt x="4315" y="1056"/>
                    <a:pt x="3025" y="1863"/>
                    <a:pt x="2541" y="1984"/>
                  </a:cubicBezTo>
                  <a:cubicBezTo>
                    <a:pt x="2458" y="2003"/>
                    <a:pt x="2382" y="2011"/>
                    <a:pt x="2314" y="2011"/>
                  </a:cubicBezTo>
                  <a:cubicBezTo>
                    <a:pt x="1946" y="2011"/>
                    <a:pt x="1775" y="1782"/>
                    <a:pt x="1775" y="1782"/>
                  </a:cubicBezTo>
                  <a:lnTo>
                    <a:pt x="403" y="2468"/>
                  </a:lnTo>
                  <a:cubicBezTo>
                    <a:pt x="81" y="2629"/>
                    <a:pt x="0" y="3033"/>
                    <a:pt x="202" y="3315"/>
                  </a:cubicBezTo>
                  <a:lnTo>
                    <a:pt x="6896" y="11824"/>
                  </a:lnTo>
                  <a:cubicBezTo>
                    <a:pt x="7024" y="11952"/>
                    <a:pt x="7200" y="12031"/>
                    <a:pt x="7363" y="12031"/>
                  </a:cubicBezTo>
                  <a:cubicBezTo>
                    <a:pt x="7458" y="12031"/>
                    <a:pt x="7548" y="12004"/>
                    <a:pt x="7622" y="11945"/>
                  </a:cubicBezTo>
                  <a:lnTo>
                    <a:pt x="10687" y="9888"/>
                  </a:lnTo>
                  <a:cubicBezTo>
                    <a:pt x="10929" y="9727"/>
                    <a:pt x="11010" y="9404"/>
                    <a:pt x="10849" y="9163"/>
                  </a:cubicBezTo>
                  <a:lnTo>
                    <a:pt x="5969" y="290"/>
                  </a:lnTo>
                  <a:cubicBezTo>
                    <a:pt x="5880" y="113"/>
                    <a:pt x="5684" y="1"/>
                    <a:pt x="54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67"/>
            <p:cNvSpPr/>
            <p:nvPr/>
          </p:nvSpPr>
          <p:spPr>
            <a:xfrm>
              <a:off x="2816610" y="2104856"/>
              <a:ext cx="123749" cy="129390"/>
            </a:xfrm>
            <a:custGeom>
              <a:avLst/>
              <a:gdLst/>
              <a:ahLst/>
              <a:cxnLst/>
              <a:rect l="l" t="t" r="r" b="b"/>
              <a:pathLst>
                <a:path w="7744" h="8097" extrusionOk="0">
                  <a:moveTo>
                    <a:pt x="4090" y="1"/>
                  </a:moveTo>
                  <a:cubicBezTo>
                    <a:pt x="4005" y="1"/>
                    <a:pt x="3916" y="19"/>
                    <a:pt x="3832" y="55"/>
                  </a:cubicBezTo>
                  <a:lnTo>
                    <a:pt x="404" y="1709"/>
                  </a:lnTo>
                  <a:cubicBezTo>
                    <a:pt x="81" y="1870"/>
                    <a:pt x="0" y="2273"/>
                    <a:pt x="202" y="2556"/>
                  </a:cubicBezTo>
                  <a:lnTo>
                    <a:pt x="3993" y="7879"/>
                  </a:lnTo>
                  <a:cubicBezTo>
                    <a:pt x="4114" y="8024"/>
                    <a:pt x="4278" y="8097"/>
                    <a:pt x="4443" y="8097"/>
                  </a:cubicBezTo>
                  <a:cubicBezTo>
                    <a:pt x="4553" y="8097"/>
                    <a:pt x="4662" y="8065"/>
                    <a:pt x="4759" y="8000"/>
                  </a:cubicBezTo>
                  <a:lnTo>
                    <a:pt x="7381" y="6427"/>
                  </a:lnTo>
                  <a:cubicBezTo>
                    <a:pt x="7663" y="6266"/>
                    <a:pt x="7744" y="5903"/>
                    <a:pt x="7582" y="5661"/>
                  </a:cubicBezTo>
                  <a:lnTo>
                    <a:pt x="4558" y="297"/>
                  </a:lnTo>
                  <a:cubicBezTo>
                    <a:pt x="4473" y="100"/>
                    <a:pt x="4289" y="1"/>
                    <a:pt x="40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67"/>
            <p:cNvSpPr/>
            <p:nvPr/>
          </p:nvSpPr>
          <p:spPr>
            <a:xfrm>
              <a:off x="3415956" y="1943330"/>
              <a:ext cx="116654" cy="115727"/>
            </a:xfrm>
            <a:custGeom>
              <a:avLst/>
              <a:gdLst/>
              <a:ahLst/>
              <a:cxnLst/>
              <a:rect l="l" t="t" r="r" b="b"/>
              <a:pathLst>
                <a:path w="7300" h="7242" extrusionOk="0">
                  <a:moveTo>
                    <a:pt x="4921" y="0"/>
                  </a:moveTo>
                  <a:lnTo>
                    <a:pt x="2460" y="1694"/>
                  </a:lnTo>
                  <a:lnTo>
                    <a:pt x="0" y="3388"/>
                  </a:lnTo>
                  <a:lnTo>
                    <a:pt x="0" y="6937"/>
                  </a:lnTo>
                  <a:lnTo>
                    <a:pt x="0" y="7219"/>
                  </a:lnTo>
                  <a:cubicBezTo>
                    <a:pt x="0" y="7234"/>
                    <a:pt x="41" y="7241"/>
                    <a:pt x="116" y="7241"/>
                  </a:cubicBezTo>
                  <a:cubicBezTo>
                    <a:pt x="1049" y="7241"/>
                    <a:pt x="7300" y="6171"/>
                    <a:pt x="7300" y="6171"/>
                  </a:cubicBezTo>
                  <a:lnTo>
                    <a:pt x="6897" y="1331"/>
                  </a:lnTo>
                  <a:lnTo>
                    <a:pt x="4921" y="0"/>
                  </a:lnTo>
                  <a:close/>
                </a:path>
              </a:pathLst>
            </a:custGeom>
            <a:solidFill>
              <a:srgbClr val="FFB1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67"/>
            <p:cNvSpPr/>
            <p:nvPr/>
          </p:nvSpPr>
          <p:spPr>
            <a:xfrm>
              <a:off x="3415956" y="1967811"/>
              <a:ext cx="68970" cy="86372"/>
            </a:xfrm>
            <a:custGeom>
              <a:avLst/>
              <a:gdLst/>
              <a:ahLst/>
              <a:cxnLst/>
              <a:rect l="l" t="t" r="r" b="b"/>
              <a:pathLst>
                <a:path w="4316" h="5405" extrusionOk="0">
                  <a:moveTo>
                    <a:pt x="4316" y="1"/>
                  </a:moveTo>
                  <a:lnTo>
                    <a:pt x="2460" y="162"/>
                  </a:lnTo>
                  <a:lnTo>
                    <a:pt x="0" y="1856"/>
                  </a:lnTo>
                  <a:lnTo>
                    <a:pt x="0" y="5405"/>
                  </a:lnTo>
                  <a:cubicBezTo>
                    <a:pt x="3912" y="3832"/>
                    <a:pt x="4316" y="1"/>
                    <a:pt x="4316" y="1"/>
                  </a:cubicBezTo>
                  <a:close/>
                </a:path>
              </a:pathLst>
            </a:custGeom>
            <a:solidFill>
              <a:srgbClr val="ED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67"/>
            <p:cNvSpPr/>
            <p:nvPr/>
          </p:nvSpPr>
          <p:spPr>
            <a:xfrm>
              <a:off x="3299957" y="1765760"/>
              <a:ext cx="212039" cy="253698"/>
            </a:xfrm>
            <a:custGeom>
              <a:avLst/>
              <a:gdLst/>
              <a:ahLst/>
              <a:cxnLst/>
              <a:rect l="l" t="t" r="r" b="b"/>
              <a:pathLst>
                <a:path w="13269" h="15876" extrusionOk="0">
                  <a:moveTo>
                    <a:pt x="5598" y="1"/>
                  </a:moveTo>
                  <a:cubicBezTo>
                    <a:pt x="5321" y="1"/>
                    <a:pt x="5041" y="21"/>
                    <a:pt x="4759" y="62"/>
                  </a:cubicBezTo>
                  <a:cubicBezTo>
                    <a:pt x="4275" y="143"/>
                    <a:pt x="3831" y="304"/>
                    <a:pt x="3428" y="506"/>
                  </a:cubicBezTo>
                  <a:cubicBezTo>
                    <a:pt x="2299" y="1111"/>
                    <a:pt x="1533" y="2159"/>
                    <a:pt x="1008" y="3450"/>
                  </a:cubicBezTo>
                  <a:cubicBezTo>
                    <a:pt x="282" y="5224"/>
                    <a:pt x="0" y="7442"/>
                    <a:pt x="81" y="9701"/>
                  </a:cubicBezTo>
                  <a:cubicBezTo>
                    <a:pt x="226" y="13652"/>
                    <a:pt x="2944" y="15876"/>
                    <a:pt x="6128" y="15876"/>
                  </a:cubicBezTo>
                  <a:cubicBezTo>
                    <a:pt x="6487" y="15876"/>
                    <a:pt x="6852" y="15848"/>
                    <a:pt x="7219" y="15791"/>
                  </a:cubicBezTo>
                  <a:cubicBezTo>
                    <a:pt x="10849" y="15226"/>
                    <a:pt x="13268" y="11233"/>
                    <a:pt x="12583" y="6918"/>
                  </a:cubicBezTo>
                  <a:cubicBezTo>
                    <a:pt x="12260" y="4942"/>
                    <a:pt x="11373" y="3248"/>
                    <a:pt x="10163" y="2038"/>
                  </a:cubicBezTo>
                  <a:cubicBezTo>
                    <a:pt x="9921" y="1756"/>
                    <a:pt x="9639" y="1514"/>
                    <a:pt x="9356" y="1312"/>
                  </a:cubicBezTo>
                  <a:cubicBezTo>
                    <a:pt x="8219" y="476"/>
                    <a:pt x="6944" y="1"/>
                    <a:pt x="5598" y="1"/>
                  </a:cubicBezTo>
                  <a:close/>
                </a:path>
              </a:pathLst>
            </a:custGeom>
            <a:solidFill>
              <a:srgbClr val="FFB1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67"/>
            <p:cNvSpPr/>
            <p:nvPr/>
          </p:nvSpPr>
          <p:spPr>
            <a:xfrm>
              <a:off x="3443026" y="3720753"/>
              <a:ext cx="101185" cy="70552"/>
            </a:xfrm>
            <a:custGeom>
              <a:avLst/>
              <a:gdLst/>
              <a:ahLst/>
              <a:cxnLst/>
              <a:rect l="l" t="t" r="r" b="b"/>
              <a:pathLst>
                <a:path w="6332" h="4415" extrusionOk="0">
                  <a:moveTo>
                    <a:pt x="5888" y="0"/>
                  </a:moveTo>
                  <a:lnTo>
                    <a:pt x="0" y="1008"/>
                  </a:lnTo>
                  <a:lnTo>
                    <a:pt x="0" y="4073"/>
                  </a:lnTo>
                  <a:cubicBezTo>
                    <a:pt x="0" y="4073"/>
                    <a:pt x="1309" y="4414"/>
                    <a:pt x="2706" y="4414"/>
                  </a:cubicBezTo>
                  <a:cubicBezTo>
                    <a:pt x="3711" y="4414"/>
                    <a:pt x="4763" y="4237"/>
                    <a:pt x="5404" y="3630"/>
                  </a:cubicBezTo>
                  <a:cubicBezTo>
                    <a:pt x="5629" y="3420"/>
                    <a:pt x="5798" y="3377"/>
                    <a:pt x="5923" y="3377"/>
                  </a:cubicBezTo>
                  <a:cubicBezTo>
                    <a:pt x="6011" y="3377"/>
                    <a:pt x="6077" y="3398"/>
                    <a:pt x="6127" y="3398"/>
                  </a:cubicBezTo>
                  <a:cubicBezTo>
                    <a:pt x="6199" y="3398"/>
                    <a:pt x="6236" y="3355"/>
                    <a:pt x="6251" y="3146"/>
                  </a:cubicBezTo>
                  <a:cubicBezTo>
                    <a:pt x="6332" y="2137"/>
                    <a:pt x="5888" y="0"/>
                    <a:pt x="5888" y="0"/>
                  </a:cubicBezTo>
                  <a:close/>
                </a:path>
              </a:pathLst>
            </a:custGeom>
            <a:solidFill>
              <a:srgbClr val="FCB0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67"/>
            <p:cNvSpPr/>
            <p:nvPr/>
          </p:nvSpPr>
          <p:spPr>
            <a:xfrm>
              <a:off x="3370205" y="2898422"/>
              <a:ext cx="230719" cy="849609"/>
            </a:xfrm>
            <a:custGeom>
              <a:avLst/>
              <a:gdLst/>
              <a:ahLst/>
              <a:cxnLst/>
              <a:rect l="l" t="t" r="r" b="b"/>
              <a:pathLst>
                <a:path w="14438" h="53167" extrusionOk="0">
                  <a:moveTo>
                    <a:pt x="14438" y="0"/>
                  </a:moveTo>
                  <a:lnTo>
                    <a:pt x="4517" y="2138"/>
                  </a:lnTo>
                  <a:cubicBezTo>
                    <a:pt x="4517" y="2138"/>
                    <a:pt x="3186" y="3589"/>
                    <a:pt x="1613" y="12865"/>
                  </a:cubicBezTo>
                  <a:cubicBezTo>
                    <a:pt x="0" y="22141"/>
                    <a:pt x="1613" y="52267"/>
                    <a:pt x="1613" y="52267"/>
                  </a:cubicBezTo>
                  <a:cubicBezTo>
                    <a:pt x="2271" y="52937"/>
                    <a:pt x="3547" y="53167"/>
                    <a:pt x="4990" y="53167"/>
                  </a:cubicBezTo>
                  <a:cubicBezTo>
                    <a:pt x="8147" y="53167"/>
                    <a:pt x="12099" y="52065"/>
                    <a:pt x="12099" y="52065"/>
                  </a:cubicBezTo>
                  <a:cubicBezTo>
                    <a:pt x="12099" y="52065"/>
                    <a:pt x="13107" y="44483"/>
                    <a:pt x="12825" y="36135"/>
                  </a:cubicBezTo>
                  <a:cubicBezTo>
                    <a:pt x="12502" y="27827"/>
                    <a:pt x="12946" y="20245"/>
                    <a:pt x="12946" y="20245"/>
                  </a:cubicBezTo>
                  <a:cubicBezTo>
                    <a:pt x="14196" y="16656"/>
                    <a:pt x="14438" y="0"/>
                    <a:pt x="14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67"/>
            <p:cNvSpPr/>
            <p:nvPr/>
          </p:nvSpPr>
          <p:spPr>
            <a:xfrm>
              <a:off x="3385658" y="3763931"/>
              <a:ext cx="177250" cy="109511"/>
            </a:xfrm>
            <a:custGeom>
              <a:avLst/>
              <a:gdLst/>
              <a:ahLst/>
              <a:cxnLst/>
              <a:rect l="l" t="t" r="r" b="b"/>
              <a:pathLst>
                <a:path w="11092" h="6853" extrusionOk="0">
                  <a:moveTo>
                    <a:pt x="10285" y="0"/>
                  </a:moveTo>
                  <a:cubicBezTo>
                    <a:pt x="8349" y="726"/>
                    <a:pt x="3348" y="726"/>
                    <a:pt x="3348" y="726"/>
                  </a:cubicBezTo>
                  <a:cubicBezTo>
                    <a:pt x="3348" y="726"/>
                    <a:pt x="3389" y="1452"/>
                    <a:pt x="2824" y="2218"/>
                  </a:cubicBezTo>
                  <a:cubicBezTo>
                    <a:pt x="2259" y="2944"/>
                    <a:pt x="1009" y="3589"/>
                    <a:pt x="928" y="3670"/>
                  </a:cubicBezTo>
                  <a:cubicBezTo>
                    <a:pt x="807" y="3751"/>
                    <a:pt x="1" y="6453"/>
                    <a:pt x="1977" y="6735"/>
                  </a:cubicBezTo>
                  <a:cubicBezTo>
                    <a:pt x="2504" y="6821"/>
                    <a:pt x="3364" y="6853"/>
                    <a:pt x="4341" y="6853"/>
                  </a:cubicBezTo>
                  <a:cubicBezTo>
                    <a:pt x="7029" y="6853"/>
                    <a:pt x="10607" y="6614"/>
                    <a:pt x="10607" y="6614"/>
                  </a:cubicBezTo>
                  <a:cubicBezTo>
                    <a:pt x="10607" y="6614"/>
                    <a:pt x="10769" y="6533"/>
                    <a:pt x="10930" y="4235"/>
                  </a:cubicBezTo>
                  <a:cubicBezTo>
                    <a:pt x="11091" y="1936"/>
                    <a:pt x="10285" y="0"/>
                    <a:pt x="102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67"/>
            <p:cNvSpPr/>
            <p:nvPr/>
          </p:nvSpPr>
          <p:spPr>
            <a:xfrm>
              <a:off x="2795341" y="2145045"/>
              <a:ext cx="145019" cy="169500"/>
            </a:xfrm>
            <a:custGeom>
              <a:avLst/>
              <a:gdLst/>
              <a:ahLst/>
              <a:cxnLst/>
              <a:rect l="l" t="t" r="r" b="b"/>
              <a:pathLst>
                <a:path w="9075" h="10607" extrusionOk="0">
                  <a:moveTo>
                    <a:pt x="0" y="0"/>
                  </a:moveTo>
                  <a:cubicBezTo>
                    <a:pt x="41" y="202"/>
                    <a:pt x="807" y="3791"/>
                    <a:pt x="2098" y="5767"/>
                  </a:cubicBezTo>
                  <a:cubicBezTo>
                    <a:pt x="2985" y="7139"/>
                    <a:pt x="5122" y="8873"/>
                    <a:pt x="6453" y="9841"/>
                  </a:cubicBezTo>
                  <a:cubicBezTo>
                    <a:pt x="7058" y="10325"/>
                    <a:pt x="7502" y="10607"/>
                    <a:pt x="7502" y="10607"/>
                  </a:cubicBezTo>
                  <a:lnTo>
                    <a:pt x="9075" y="7784"/>
                  </a:lnTo>
                  <a:lnTo>
                    <a:pt x="9075" y="7623"/>
                  </a:lnTo>
                  <a:cubicBezTo>
                    <a:pt x="9075" y="7623"/>
                    <a:pt x="9034" y="7623"/>
                    <a:pt x="9034" y="7542"/>
                  </a:cubicBezTo>
                  <a:cubicBezTo>
                    <a:pt x="8833" y="7260"/>
                    <a:pt x="8066" y="6171"/>
                    <a:pt x="7179" y="5848"/>
                  </a:cubicBezTo>
                  <a:cubicBezTo>
                    <a:pt x="6130" y="5485"/>
                    <a:pt x="5929" y="3993"/>
                    <a:pt x="5606" y="2662"/>
                  </a:cubicBezTo>
                  <a:cubicBezTo>
                    <a:pt x="5400" y="1839"/>
                    <a:pt x="5031" y="1459"/>
                    <a:pt x="4716" y="1459"/>
                  </a:cubicBezTo>
                  <a:cubicBezTo>
                    <a:pt x="4538" y="1459"/>
                    <a:pt x="4378" y="1581"/>
                    <a:pt x="4275" y="1815"/>
                  </a:cubicBezTo>
                  <a:cubicBezTo>
                    <a:pt x="3957" y="2610"/>
                    <a:pt x="4188" y="5285"/>
                    <a:pt x="4156" y="5285"/>
                  </a:cubicBezTo>
                  <a:cubicBezTo>
                    <a:pt x="4155" y="5285"/>
                    <a:pt x="4155" y="5285"/>
                    <a:pt x="4154" y="5283"/>
                  </a:cubicBezTo>
                  <a:cubicBezTo>
                    <a:pt x="4074" y="5162"/>
                    <a:pt x="202" y="242"/>
                    <a:pt x="0" y="0"/>
                  </a:cubicBezTo>
                  <a:close/>
                </a:path>
              </a:pathLst>
            </a:custGeom>
            <a:solidFill>
              <a:srgbClr val="FFB1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67"/>
            <p:cNvSpPr/>
            <p:nvPr/>
          </p:nvSpPr>
          <p:spPr>
            <a:xfrm>
              <a:off x="2902966" y="2250082"/>
              <a:ext cx="85078" cy="97989"/>
            </a:xfrm>
            <a:custGeom>
              <a:avLst/>
              <a:gdLst/>
              <a:ahLst/>
              <a:cxnLst/>
              <a:rect l="l" t="t" r="r" b="b"/>
              <a:pathLst>
                <a:path w="5324" h="6132" extrusionOk="0">
                  <a:moveTo>
                    <a:pt x="3065" y="1"/>
                  </a:moveTo>
                  <a:lnTo>
                    <a:pt x="0" y="4558"/>
                  </a:lnTo>
                  <a:lnTo>
                    <a:pt x="3307" y="6131"/>
                  </a:lnTo>
                  <a:lnTo>
                    <a:pt x="5324" y="969"/>
                  </a:lnTo>
                  <a:lnTo>
                    <a:pt x="306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67"/>
            <p:cNvSpPr/>
            <p:nvPr/>
          </p:nvSpPr>
          <p:spPr>
            <a:xfrm>
              <a:off x="3304463" y="3733633"/>
              <a:ext cx="131483" cy="92556"/>
            </a:xfrm>
            <a:custGeom>
              <a:avLst/>
              <a:gdLst/>
              <a:ahLst/>
              <a:cxnLst/>
              <a:rect l="l" t="t" r="r" b="b"/>
              <a:pathLst>
                <a:path w="8228" h="5792" extrusionOk="0">
                  <a:moveTo>
                    <a:pt x="6332" y="1"/>
                  </a:moveTo>
                  <a:lnTo>
                    <a:pt x="0" y="1614"/>
                  </a:lnTo>
                  <a:lnTo>
                    <a:pt x="0" y="2985"/>
                  </a:lnTo>
                  <a:cubicBezTo>
                    <a:pt x="0" y="2985"/>
                    <a:pt x="438" y="5791"/>
                    <a:pt x="3807" y="5791"/>
                  </a:cubicBezTo>
                  <a:cubicBezTo>
                    <a:pt x="3982" y="5791"/>
                    <a:pt x="4165" y="5784"/>
                    <a:pt x="4356" y="5768"/>
                  </a:cubicBezTo>
                  <a:cubicBezTo>
                    <a:pt x="8228" y="5445"/>
                    <a:pt x="6776" y="3711"/>
                    <a:pt x="6776" y="3711"/>
                  </a:cubicBezTo>
                  <a:lnTo>
                    <a:pt x="6735" y="3267"/>
                  </a:lnTo>
                  <a:lnTo>
                    <a:pt x="6332" y="1"/>
                  </a:lnTo>
                  <a:close/>
                </a:path>
              </a:pathLst>
            </a:custGeom>
            <a:solidFill>
              <a:srgbClr val="FCB0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67"/>
            <p:cNvSpPr/>
            <p:nvPr/>
          </p:nvSpPr>
          <p:spPr>
            <a:xfrm>
              <a:off x="3240655" y="2665210"/>
              <a:ext cx="365431" cy="1094215"/>
            </a:xfrm>
            <a:custGeom>
              <a:avLst/>
              <a:gdLst/>
              <a:ahLst/>
              <a:cxnLst/>
              <a:rect l="l" t="t" r="r" b="b"/>
              <a:pathLst>
                <a:path w="22868" h="68474" extrusionOk="0">
                  <a:moveTo>
                    <a:pt x="5565" y="0"/>
                  </a:moveTo>
                  <a:cubicBezTo>
                    <a:pt x="3328" y="0"/>
                    <a:pt x="1618" y="1108"/>
                    <a:pt x="1090" y="4109"/>
                  </a:cubicBezTo>
                  <a:cubicBezTo>
                    <a:pt x="767" y="5883"/>
                    <a:pt x="606" y="8666"/>
                    <a:pt x="485" y="12053"/>
                  </a:cubicBezTo>
                  <a:cubicBezTo>
                    <a:pt x="1" y="30685"/>
                    <a:pt x="2300" y="68474"/>
                    <a:pt x="2300" y="68474"/>
                  </a:cubicBezTo>
                  <a:lnTo>
                    <a:pt x="11293" y="68474"/>
                  </a:lnTo>
                  <a:cubicBezTo>
                    <a:pt x="11293" y="68474"/>
                    <a:pt x="10486" y="53270"/>
                    <a:pt x="10486" y="42260"/>
                  </a:cubicBezTo>
                  <a:cubicBezTo>
                    <a:pt x="10446" y="31290"/>
                    <a:pt x="12543" y="21490"/>
                    <a:pt x="12543" y="21490"/>
                  </a:cubicBezTo>
                  <a:cubicBezTo>
                    <a:pt x="12543" y="21490"/>
                    <a:pt x="19480" y="19918"/>
                    <a:pt x="21496" y="17538"/>
                  </a:cubicBezTo>
                  <a:cubicBezTo>
                    <a:pt x="22867" y="15885"/>
                    <a:pt x="22746" y="12255"/>
                    <a:pt x="22545" y="10239"/>
                  </a:cubicBezTo>
                  <a:cubicBezTo>
                    <a:pt x="22464" y="9392"/>
                    <a:pt x="22343" y="8787"/>
                    <a:pt x="22343" y="8787"/>
                  </a:cubicBezTo>
                  <a:cubicBezTo>
                    <a:pt x="22343" y="8787"/>
                    <a:pt x="11866" y="0"/>
                    <a:pt x="5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67"/>
            <p:cNvSpPr/>
            <p:nvPr/>
          </p:nvSpPr>
          <p:spPr>
            <a:xfrm>
              <a:off x="3248390" y="2665210"/>
              <a:ext cx="352535" cy="200789"/>
            </a:xfrm>
            <a:custGeom>
              <a:avLst/>
              <a:gdLst/>
              <a:ahLst/>
              <a:cxnLst/>
              <a:rect l="l" t="t" r="r" b="b"/>
              <a:pathLst>
                <a:path w="22061" h="12565" extrusionOk="0">
                  <a:moveTo>
                    <a:pt x="5081" y="0"/>
                  </a:moveTo>
                  <a:cubicBezTo>
                    <a:pt x="2844" y="0"/>
                    <a:pt x="1134" y="1108"/>
                    <a:pt x="606" y="4109"/>
                  </a:cubicBezTo>
                  <a:cubicBezTo>
                    <a:pt x="283" y="5883"/>
                    <a:pt x="122" y="8666"/>
                    <a:pt x="1" y="12053"/>
                  </a:cubicBezTo>
                  <a:lnTo>
                    <a:pt x="1695" y="12376"/>
                  </a:lnTo>
                  <a:cubicBezTo>
                    <a:pt x="1695" y="12376"/>
                    <a:pt x="2914" y="12565"/>
                    <a:pt x="5249" y="12565"/>
                  </a:cubicBezTo>
                  <a:cubicBezTo>
                    <a:pt x="8626" y="12565"/>
                    <a:pt x="14335" y="12170"/>
                    <a:pt x="22061" y="10239"/>
                  </a:cubicBezTo>
                  <a:cubicBezTo>
                    <a:pt x="21980" y="9392"/>
                    <a:pt x="21859" y="8787"/>
                    <a:pt x="21859" y="8787"/>
                  </a:cubicBezTo>
                  <a:cubicBezTo>
                    <a:pt x="21859" y="8787"/>
                    <a:pt x="11382" y="0"/>
                    <a:pt x="5081" y="0"/>
                  </a:cubicBezTo>
                  <a:close/>
                </a:path>
              </a:pathLst>
            </a:custGeom>
            <a:solidFill>
              <a:srgbClr val="121212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67"/>
            <p:cNvSpPr/>
            <p:nvPr/>
          </p:nvSpPr>
          <p:spPr>
            <a:xfrm>
              <a:off x="3397915" y="2019634"/>
              <a:ext cx="162421" cy="44217"/>
            </a:xfrm>
            <a:custGeom>
              <a:avLst/>
              <a:gdLst/>
              <a:ahLst/>
              <a:cxnLst/>
              <a:rect l="l" t="t" r="r" b="b"/>
              <a:pathLst>
                <a:path w="10164" h="2767" extrusionOk="0">
                  <a:moveTo>
                    <a:pt x="8552" y="1"/>
                  </a:moveTo>
                  <a:cubicBezTo>
                    <a:pt x="6818" y="1"/>
                    <a:pt x="3751" y="511"/>
                    <a:pt x="2178" y="831"/>
                  </a:cubicBezTo>
                  <a:cubicBezTo>
                    <a:pt x="0" y="1315"/>
                    <a:pt x="766" y="2767"/>
                    <a:pt x="766" y="2767"/>
                  </a:cubicBezTo>
                  <a:lnTo>
                    <a:pt x="9800" y="2767"/>
                  </a:lnTo>
                  <a:cubicBezTo>
                    <a:pt x="9800" y="2767"/>
                    <a:pt x="10163" y="912"/>
                    <a:pt x="9800" y="266"/>
                  </a:cubicBezTo>
                  <a:cubicBezTo>
                    <a:pt x="9688" y="76"/>
                    <a:pt x="9219" y="1"/>
                    <a:pt x="85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67"/>
            <p:cNvSpPr/>
            <p:nvPr/>
          </p:nvSpPr>
          <p:spPr>
            <a:xfrm>
              <a:off x="3566120" y="2058689"/>
              <a:ext cx="290660" cy="493670"/>
            </a:xfrm>
            <a:custGeom>
              <a:avLst/>
              <a:gdLst/>
              <a:ahLst/>
              <a:cxnLst/>
              <a:rect l="l" t="t" r="r" b="b"/>
              <a:pathLst>
                <a:path w="18189" h="30893" extrusionOk="0">
                  <a:moveTo>
                    <a:pt x="0" y="0"/>
                  </a:moveTo>
                  <a:lnTo>
                    <a:pt x="4436" y="15446"/>
                  </a:lnTo>
                  <a:cubicBezTo>
                    <a:pt x="4436" y="15446"/>
                    <a:pt x="7461" y="18431"/>
                    <a:pt x="7864" y="20044"/>
                  </a:cubicBezTo>
                  <a:cubicBezTo>
                    <a:pt x="8268" y="21617"/>
                    <a:pt x="4880" y="24077"/>
                    <a:pt x="4880" y="24077"/>
                  </a:cubicBezTo>
                  <a:lnTo>
                    <a:pt x="9074" y="28715"/>
                  </a:lnTo>
                  <a:lnTo>
                    <a:pt x="11050" y="30892"/>
                  </a:lnTo>
                  <a:cubicBezTo>
                    <a:pt x="11050" y="30892"/>
                    <a:pt x="16979" y="25488"/>
                    <a:pt x="17664" y="21375"/>
                  </a:cubicBezTo>
                  <a:cubicBezTo>
                    <a:pt x="18188" y="18068"/>
                    <a:pt x="17503" y="15971"/>
                    <a:pt x="14156" y="11978"/>
                  </a:cubicBezTo>
                  <a:cubicBezTo>
                    <a:pt x="13309" y="11010"/>
                    <a:pt x="12341" y="9921"/>
                    <a:pt x="11171" y="8671"/>
                  </a:cubicBezTo>
                  <a:cubicBezTo>
                    <a:pt x="5203" y="234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67"/>
            <p:cNvSpPr/>
            <p:nvPr/>
          </p:nvSpPr>
          <p:spPr>
            <a:xfrm>
              <a:off x="3240016" y="2051195"/>
              <a:ext cx="434384" cy="773768"/>
            </a:xfrm>
            <a:custGeom>
              <a:avLst/>
              <a:gdLst/>
              <a:ahLst/>
              <a:cxnLst/>
              <a:rect l="l" t="t" r="r" b="b"/>
              <a:pathLst>
                <a:path w="27183" h="48421" extrusionOk="0">
                  <a:moveTo>
                    <a:pt x="17099" y="1"/>
                  </a:moveTo>
                  <a:cubicBezTo>
                    <a:pt x="9807" y="1"/>
                    <a:pt x="6332" y="2607"/>
                    <a:pt x="6332" y="2607"/>
                  </a:cubicBezTo>
                  <a:cubicBezTo>
                    <a:pt x="6332" y="2607"/>
                    <a:pt x="4759" y="13617"/>
                    <a:pt x="3791" y="20674"/>
                  </a:cubicBezTo>
                  <a:cubicBezTo>
                    <a:pt x="3711" y="21118"/>
                    <a:pt x="3670" y="21642"/>
                    <a:pt x="3590" y="22166"/>
                  </a:cubicBezTo>
                  <a:cubicBezTo>
                    <a:pt x="2824" y="27691"/>
                    <a:pt x="1412" y="37653"/>
                    <a:pt x="605" y="43299"/>
                  </a:cubicBezTo>
                  <a:cubicBezTo>
                    <a:pt x="243" y="45759"/>
                    <a:pt x="41" y="47412"/>
                    <a:pt x="1" y="47574"/>
                  </a:cubicBezTo>
                  <a:cubicBezTo>
                    <a:pt x="1886" y="48387"/>
                    <a:pt x="4415" y="48421"/>
                    <a:pt x="4824" y="48421"/>
                  </a:cubicBezTo>
                  <a:cubicBezTo>
                    <a:pt x="4861" y="48421"/>
                    <a:pt x="4880" y="48421"/>
                    <a:pt x="4880" y="48421"/>
                  </a:cubicBezTo>
                  <a:cubicBezTo>
                    <a:pt x="6453" y="48380"/>
                    <a:pt x="19923" y="47735"/>
                    <a:pt x="22383" y="47211"/>
                  </a:cubicBezTo>
                  <a:cubicBezTo>
                    <a:pt x="23230" y="47049"/>
                    <a:pt x="23795" y="46364"/>
                    <a:pt x="24198" y="45517"/>
                  </a:cubicBezTo>
                  <a:cubicBezTo>
                    <a:pt x="25045" y="43823"/>
                    <a:pt x="25166" y="41524"/>
                    <a:pt x="25166" y="41524"/>
                  </a:cubicBezTo>
                  <a:cubicBezTo>
                    <a:pt x="25166" y="41524"/>
                    <a:pt x="25247" y="40637"/>
                    <a:pt x="25368" y="39105"/>
                  </a:cubicBezTo>
                  <a:cubicBezTo>
                    <a:pt x="25932" y="32168"/>
                    <a:pt x="27182" y="12165"/>
                    <a:pt x="23754" y="3817"/>
                  </a:cubicBezTo>
                  <a:cubicBezTo>
                    <a:pt x="22827" y="1598"/>
                    <a:pt x="20730" y="147"/>
                    <a:pt x="18350" y="26"/>
                  </a:cubicBezTo>
                  <a:cubicBezTo>
                    <a:pt x="17922" y="9"/>
                    <a:pt x="17505" y="1"/>
                    <a:pt x="170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67"/>
            <p:cNvSpPr/>
            <p:nvPr/>
          </p:nvSpPr>
          <p:spPr>
            <a:xfrm>
              <a:off x="2928742" y="2085887"/>
              <a:ext cx="519446" cy="379078"/>
            </a:xfrm>
            <a:custGeom>
              <a:avLst/>
              <a:gdLst/>
              <a:ahLst/>
              <a:cxnLst/>
              <a:rect l="l" t="t" r="r" b="b"/>
              <a:pathLst>
                <a:path w="32506" h="23722" extrusionOk="0">
                  <a:moveTo>
                    <a:pt x="28287" y="1"/>
                  </a:moveTo>
                  <a:cubicBezTo>
                    <a:pt x="27577" y="1"/>
                    <a:pt x="26756" y="135"/>
                    <a:pt x="25811" y="436"/>
                  </a:cubicBezTo>
                  <a:cubicBezTo>
                    <a:pt x="25811" y="436"/>
                    <a:pt x="18118" y="13809"/>
                    <a:pt x="13253" y="13809"/>
                  </a:cubicBezTo>
                  <a:cubicBezTo>
                    <a:pt x="12965" y="13809"/>
                    <a:pt x="12688" y="13763"/>
                    <a:pt x="12422" y="13664"/>
                  </a:cubicBezTo>
                  <a:cubicBezTo>
                    <a:pt x="7663" y="11889"/>
                    <a:pt x="3872" y="10236"/>
                    <a:pt x="3872" y="10236"/>
                  </a:cubicBezTo>
                  <a:lnTo>
                    <a:pt x="525" y="15841"/>
                  </a:lnTo>
                  <a:lnTo>
                    <a:pt x="1" y="16729"/>
                  </a:lnTo>
                  <a:cubicBezTo>
                    <a:pt x="1" y="16729"/>
                    <a:pt x="9683" y="23721"/>
                    <a:pt x="15819" y="23721"/>
                  </a:cubicBezTo>
                  <a:cubicBezTo>
                    <a:pt x="16610" y="23721"/>
                    <a:pt x="17342" y="23605"/>
                    <a:pt x="17987" y="23343"/>
                  </a:cubicBezTo>
                  <a:cubicBezTo>
                    <a:pt x="19439" y="22778"/>
                    <a:pt x="21052" y="21528"/>
                    <a:pt x="22666" y="20036"/>
                  </a:cubicBezTo>
                  <a:cubicBezTo>
                    <a:pt x="22666" y="20036"/>
                    <a:pt x="22706" y="19995"/>
                    <a:pt x="22706" y="19995"/>
                  </a:cubicBezTo>
                  <a:cubicBezTo>
                    <a:pt x="25690" y="17213"/>
                    <a:pt x="28675" y="13462"/>
                    <a:pt x="30368" y="11204"/>
                  </a:cubicBezTo>
                  <a:cubicBezTo>
                    <a:pt x="31498" y="9631"/>
                    <a:pt x="32506" y="7372"/>
                    <a:pt x="32506" y="5437"/>
                  </a:cubicBezTo>
                  <a:cubicBezTo>
                    <a:pt x="32506" y="2882"/>
                    <a:pt x="31578" y="1"/>
                    <a:pt x="28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67"/>
            <p:cNvSpPr/>
            <p:nvPr/>
          </p:nvSpPr>
          <p:spPr>
            <a:xfrm>
              <a:off x="3151087" y="3778649"/>
              <a:ext cx="279698" cy="125139"/>
            </a:xfrm>
            <a:custGeom>
              <a:avLst/>
              <a:gdLst/>
              <a:ahLst/>
              <a:cxnLst/>
              <a:rect l="l" t="t" r="r" b="b"/>
              <a:pathLst>
                <a:path w="17503" h="7831" extrusionOk="0">
                  <a:moveTo>
                    <a:pt x="9650" y="1"/>
                  </a:moveTo>
                  <a:cubicBezTo>
                    <a:pt x="9081" y="1"/>
                    <a:pt x="8711" y="450"/>
                    <a:pt x="8711" y="450"/>
                  </a:cubicBezTo>
                  <a:cubicBezTo>
                    <a:pt x="8631" y="2104"/>
                    <a:pt x="1654" y="4886"/>
                    <a:pt x="847" y="6016"/>
                  </a:cubicBezTo>
                  <a:cubicBezTo>
                    <a:pt x="0" y="7185"/>
                    <a:pt x="4194" y="7830"/>
                    <a:pt x="6574" y="7830"/>
                  </a:cubicBezTo>
                  <a:cubicBezTo>
                    <a:pt x="8953" y="7830"/>
                    <a:pt x="13752" y="6822"/>
                    <a:pt x="15486" y="6822"/>
                  </a:cubicBezTo>
                  <a:cubicBezTo>
                    <a:pt x="17221" y="6822"/>
                    <a:pt x="17503" y="5209"/>
                    <a:pt x="17503" y="5209"/>
                  </a:cubicBezTo>
                  <a:lnTo>
                    <a:pt x="17261" y="1983"/>
                  </a:lnTo>
                  <a:cubicBezTo>
                    <a:pt x="17180" y="1337"/>
                    <a:pt x="16656" y="854"/>
                    <a:pt x="16051" y="854"/>
                  </a:cubicBezTo>
                  <a:cubicBezTo>
                    <a:pt x="14035" y="854"/>
                    <a:pt x="10687" y="370"/>
                    <a:pt x="10082" y="87"/>
                  </a:cubicBezTo>
                  <a:cubicBezTo>
                    <a:pt x="9929" y="26"/>
                    <a:pt x="9784" y="1"/>
                    <a:pt x="9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67"/>
            <p:cNvSpPr/>
            <p:nvPr/>
          </p:nvSpPr>
          <p:spPr>
            <a:xfrm>
              <a:off x="2928742" y="2339027"/>
              <a:ext cx="362203" cy="125938"/>
            </a:xfrm>
            <a:custGeom>
              <a:avLst/>
              <a:gdLst/>
              <a:ahLst/>
              <a:cxnLst/>
              <a:rect l="l" t="t" r="r" b="b"/>
              <a:pathLst>
                <a:path w="22666" h="7881" extrusionOk="0">
                  <a:moveTo>
                    <a:pt x="525" y="0"/>
                  </a:moveTo>
                  <a:lnTo>
                    <a:pt x="1" y="888"/>
                  </a:lnTo>
                  <a:cubicBezTo>
                    <a:pt x="1" y="888"/>
                    <a:pt x="9683" y="7880"/>
                    <a:pt x="15819" y="7880"/>
                  </a:cubicBezTo>
                  <a:cubicBezTo>
                    <a:pt x="16610" y="7880"/>
                    <a:pt x="17342" y="7764"/>
                    <a:pt x="17987" y="7502"/>
                  </a:cubicBezTo>
                  <a:cubicBezTo>
                    <a:pt x="19439" y="6937"/>
                    <a:pt x="21052" y="5687"/>
                    <a:pt x="22666" y="4195"/>
                  </a:cubicBezTo>
                  <a:lnTo>
                    <a:pt x="22666" y="4195"/>
                  </a:lnTo>
                  <a:cubicBezTo>
                    <a:pt x="22334" y="4460"/>
                    <a:pt x="20503" y="5870"/>
                    <a:pt x="16298" y="5870"/>
                  </a:cubicBezTo>
                  <a:cubicBezTo>
                    <a:pt x="15389" y="5870"/>
                    <a:pt x="14369" y="5804"/>
                    <a:pt x="13229" y="5646"/>
                  </a:cubicBezTo>
                  <a:cubicBezTo>
                    <a:pt x="6211" y="4759"/>
                    <a:pt x="525" y="0"/>
                    <a:pt x="525" y="0"/>
                  </a:cubicBezTo>
                  <a:close/>
                </a:path>
              </a:pathLst>
            </a:custGeom>
            <a:solidFill>
              <a:srgbClr val="121212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67"/>
            <p:cNvSpPr/>
            <p:nvPr/>
          </p:nvSpPr>
          <p:spPr>
            <a:xfrm>
              <a:off x="3711123" y="2250082"/>
              <a:ext cx="145658" cy="302278"/>
            </a:xfrm>
            <a:custGeom>
              <a:avLst/>
              <a:gdLst/>
              <a:ahLst/>
              <a:cxnLst/>
              <a:rect l="l" t="t" r="r" b="b"/>
              <a:pathLst>
                <a:path w="9115" h="18916" extrusionOk="0">
                  <a:moveTo>
                    <a:pt x="5082" y="1"/>
                  </a:moveTo>
                  <a:cubicBezTo>
                    <a:pt x="5243" y="324"/>
                    <a:pt x="8832" y="7099"/>
                    <a:pt x="5082" y="11414"/>
                  </a:cubicBezTo>
                  <a:cubicBezTo>
                    <a:pt x="2984" y="13794"/>
                    <a:pt x="1210" y="15608"/>
                    <a:pt x="0" y="16738"/>
                  </a:cubicBezTo>
                  <a:lnTo>
                    <a:pt x="1976" y="18915"/>
                  </a:lnTo>
                  <a:cubicBezTo>
                    <a:pt x="1976" y="18915"/>
                    <a:pt x="7905" y="13511"/>
                    <a:pt x="8590" y="9398"/>
                  </a:cubicBezTo>
                  <a:cubicBezTo>
                    <a:pt x="9114" y="6091"/>
                    <a:pt x="8429" y="3994"/>
                    <a:pt x="5082" y="1"/>
                  </a:cubicBezTo>
                  <a:close/>
                </a:path>
              </a:pathLst>
            </a:custGeom>
            <a:solidFill>
              <a:srgbClr val="121212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67"/>
            <p:cNvSpPr/>
            <p:nvPr/>
          </p:nvSpPr>
          <p:spPr>
            <a:xfrm>
              <a:off x="3316065" y="1773830"/>
              <a:ext cx="146952" cy="108808"/>
            </a:xfrm>
            <a:custGeom>
              <a:avLst/>
              <a:gdLst/>
              <a:ahLst/>
              <a:cxnLst/>
              <a:rect l="l" t="t" r="r" b="b"/>
              <a:pathLst>
                <a:path w="9196" h="6809" extrusionOk="0">
                  <a:moveTo>
                    <a:pt x="2420" y="1"/>
                  </a:moveTo>
                  <a:cubicBezTo>
                    <a:pt x="1291" y="606"/>
                    <a:pt x="525" y="1654"/>
                    <a:pt x="0" y="2945"/>
                  </a:cubicBezTo>
                  <a:cubicBezTo>
                    <a:pt x="0" y="2945"/>
                    <a:pt x="2026" y="3477"/>
                    <a:pt x="3791" y="3477"/>
                  </a:cubicBezTo>
                  <a:cubicBezTo>
                    <a:pt x="4253" y="3477"/>
                    <a:pt x="4697" y="3440"/>
                    <a:pt x="5082" y="3348"/>
                  </a:cubicBezTo>
                  <a:cubicBezTo>
                    <a:pt x="5082" y="3348"/>
                    <a:pt x="5929" y="6090"/>
                    <a:pt x="7018" y="6736"/>
                  </a:cubicBezTo>
                  <a:cubicBezTo>
                    <a:pt x="7104" y="6785"/>
                    <a:pt x="7186" y="6808"/>
                    <a:pt x="7265" y="6808"/>
                  </a:cubicBezTo>
                  <a:cubicBezTo>
                    <a:pt x="8149" y="6808"/>
                    <a:pt x="8590" y="3953"/>
                    <a:pt x="8590" y="3953"/>
                  </a:cubicBezTo>
                  <a:cubicBezTo>
                    <a:pt x="8590" y="3953"/>
                    <a:pt x="9074" y="2380"/>
                    <a:pt x="9155" y="1533"/>
                  </a:cubicBezTo>
                  <a:cubicBezTo>
                    <a:pt x="9195" y="1251"/>
                    <a:pt x="9155" y="1049"/>
                    <a:pt x="9074" y="1009"/>
                  </a:cubicBezTo>
                  <a:cubicBezTo>
                    <a:pt x="8994" y="969"/>
                    <a:pt x="8711" y="888"/>
                    <a:pt x="8348" y="807"/>
                  </a:cubicBezTo>
                  <a:cubicBezTo>
                    <a:pt x="7139" y="525"/>
                    <a:pt x="4921" y="122"/>
                    <a:pt x="4558" y="81"/>
                  </a:cubicBezTo>
                  <a:cubicBezTo>
                    <a:pt x="4356" y="1"/>
                    <a:pt x="3307" y="1"/>
                    <a:pt x="2420" y="1"/>
                  </a:cubicBezTo>
                  <a:close/>
                </a:path>
              </a:pathLst>
            </a:custGeom>
            <a:solidFill>
              <a:srgbClr val="ED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67"/>
            <p:cNvSpPr/>
            <p:nvPr/>
          </p:nvSpPr>
          <p:spPr>
            <a:xfrm>
              <a:off x="3213106" y="1631272"/>
              <a:ext cx="363976" cy="339783"/>
            </a:xfrm>
            <a:custGeom>
              <a:avLst/>
              <a:gdLst/>
              <a:ahLst/>
              <a:cxnLst/>
              <a:rect l="l" t="t" r="r" b="b"/>
              <a:pathLst>
                <a:path w="22777" h="21263" extrusionOk="0">
                  <a:moveTo>
                    <a:pt x="10217" y="1"/>
                  </a:moveTo>
                  <a:cubicBezTo>
                    <a:pt x="8769" y="1"/>
                    <a:pt x="8950" y="3347"/>
                    <a:pt x="8984" y="3760"/>
                  </a:cubicBezTo>
                  <a:cubicBezTo>
                    <a:pt x="8910" y="3353"/>
                    <a:pt x="8327" y="334"/>
                    <a:pt x="6023" y="334"/>
                  </a:cubicBezTo>
                  <a:cubicBezTo>
                    <a:pt x="5814" y="334"/>
                    <a:pt x="5592" y="359"/>
                    <a:pt x="5354" y="412"/>
                  </a:cubicBezTo>
                  <a:cubicBezTo>
                    <a:pt x="2330" y="1058"/>
                    <a:pt x="5072" y="5292"/>
                    <a:pt x="5153" y="5655"/>
                  </a:cubicBezTo>
                  <a:cubicBezTo>
                    <a:pt x="5164" y="5702"/>
                    <a:pt x="5153" y="5723"/>
                    <a:pt x="5120" y="5723"/>
                  </a:cubicBezTo>
                  <a:cubicBezTo>
                    <a:pt x="4923" y="5723"/>
                    <a:pt x="3941" y="4969"/>
                    <a:pt x="2249" y="4244"/>
                  </a:cubicBezTo>
                  <a:cubicBezTo>
                    <a:pt x="1988" y="4135"/>
                    <a:pt x="1744" y="4084"/>
                    <a:pt x="1524" y="4084"/>
                  </a:cubicBezTo>
                  <a:cubicBezTo>
                    <a:pt x="517" y="4084"/>
                    <a:pt x="0" y="5156"/>
                    <a:pt x="596" y="6744"/>
                  </a:cubicBezTo>
                  <a:cubicBezTo>
                    <a:pt x="878" y="7430"/>
                    <a:pt x="1402" y="8277"/>
                    <a:pt x="2249" y="9164"/>
                  </a:cubicBezTo>
                  <a:cubicBezTo>
                    <a:pt x="4266" y="11315"/>
                    <a:pt x="8200" y="11673"/>
                    <a:pt x="10599" y="11673"/>
                  </a:cubicBezTo>
                  <a:cubicBezTo>
                    <a:pt x="11798" y="11673"/>
                    <a:pt x="12614" y="11584"/>
                    <a:pt x="12614" y="11584"/>
                  </a:cubicBezTo>
                  <a:lnTo>
                    <a:pt x="12614" y="11584"/>
                  </a:lnTo>
                  <a:cubicBezTo>
                    <a:pt x="12614" y="11584"/>
                    <a:pt x="12291" y="12632"/>
                    <a:pt x="12896" y="13761"/>
                  </a:cubicBezTo>
                  <a:cubicBezTo>
                    <a:pt x="13501" y="14890"/>
                    <a:pt x="13824" y="16342"/>
                    <a:pt x="13824" y="16342"/>
                  </a:cubicBezTo>
                  <a:lnTo>
                    <a:pt x="13824" y="16665"/>
                  </a:lnTo>
                  <a:cubicBezTo>
                    <a:pt x="14267" y="20779"/>
                    <a:pt x="17332" y="21262"/>
                    <a:pt x="18139" y="21262"/>
                  </a:cubicBezTo>
                  <a:cubicBezTo>
                    <a:pt x="19349" y="21222"/>
                    <a:pt x="21405" y="20658"/>
                    <a:pt x="22535" y="15011"/>
                  </a:cubicBezTo>
                  <a:cubicBezTo>
                    <a:pt x="22777" y="13882"/>
                    <a:pt x="22777" y="12914"/>
                    <a:pt x="22575" y="12067"/>
                  </a:cubicBezTo>
                  <a:cubicBezTo>
                    <a:pt x="21809" y="8841"/>
                    <a:pt x="18381" y="7793"/>
                    <a:pt x="16082" y="6946"/>
                  </a:cubicBezTo>
                  <a:cubicBezTo>
                    <a:pt x="13178" y="5897"/>
                    <a:pt x="13622" y="1985"/>
                    <a:pt x="11122" y="332"/>
                  </a:cubicBezTo>
                  <a:cubicBezTo>
                    <a:pt x="10766" y="100"/>
                    <a:pt x="10467" y="1"/>
                    <a:pt x="102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67"/>
            <p:cNvSpPr/>
            <p:nvPr/>
          </p:nvSpPr>
          <p:spPr>
            <a:xfrm>
              <a:off x="3418529" y="1871787"/>
              <a:ext cx="63169" cy="63185"/>
            </a:xfrm>
            <a:custGeom>
              <a:avLst/>
              <a:gdLst/>
              <a:ahLst/>
              <a:cxnLst/>
              <a:rect l="l" t="t" r="r" b="b"/>
              <a:pathLst>
                <a:path w="3953" h="3954" extrusionOk="0">
                  <a:moveTo>
                    <a:pt x="1977" y="1"/>
                  </a:moveTo>
                  <a:cubicBezTo>
                    <a:pt x="888" y="1"/>
                    <a:pt x="1" y="888"/>
                    <a:pt x="1" y="1977"/>
                  </a:cubicBezTo>
                  <a:cubicBezTo>
                    <a:pt x="1" y="3066"/>
                    <a:pt x="888" y="3953"/>
                    <a:pt x="1977" y="3953"/>
                  </a:cubicBezTo>
                  <a:cubicBezTo>
                    <a:pt x="3066" y="3953"/>
                    <a:pt x="3953" y="3066"/>
                    <a:pt x="3953" y="1977"/>
                  </a:cubicBezTo>
                  <a:cubicBezTo>
                    <a:pt x="3953" y="888"/>
                    <a:pt x="3066" y="1"/>
                    <a:pt x="1977" y="1"/>
                  </a:cubicBezTo>
                  <a:close/>
                </a:path>
              </a:pathLst>
            </a:custGeom>
            <a:solidFill>
              <a:srgbClr val="FFA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8" name="Google Shape;1065;p62"/>
          <p:cNvCxnSpPr/>
          <p:nvPr/>
        </p:nvCxnSpPr>
        <p:spPr>
          <a:xfrm>
            <a:off x="5529856" y="2571750"/>
            <a:ext cx="1778448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6030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wesome Augmented Reality App Pitch Deck by Slidesgo">
  <a:themeElements>
    <a:clrScheme name="Simple Light">
      <a:dk1>
        <a:srgbClr val="1E1E1E"/>
      </a:dk1>
      <a:lt1>
        <a:srgbClr val="FFFFFF"/>
      </a:lt1>
      <a:dk2>
        <a:srgbClr val="2D2D2D"/>
      </a:dk2>
      <a:lt2>
        <a:srgbClr val="F3F3F3"/>
      </a:lt2>
      <a:accent1>
        <a:srgbClr val="B7B7B7"/>
      </a:accent1>
      <a:accent2>
        <a:srgbClr val="955CFF"/>
      </a:accent2>
      <a:accent3>
        <a:srgbClr val="FDFF5C"/>
      </a:accent3>
      <a:accent4>
        <a:srgbClr val="5CFFF8"/>
      </a:accent4>
      <a:accent5>
        <a:srgbClr val="5CFFA6"/>
      </a:accent5>
      <a:accent6>
        <a:srgbClr val="FF5C5C"/>
      </a:accent6>
      <a:hlink>
        <a:srgbClr val="5CFF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745</Words>
  <Application>Microsoft Office PowerPoint</Application>
  <PresentationFormat>On-screen Show (16:9)</PresentationFormat>
  <Paragraphs>93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Montserrat ExtraBold</vt:lpstr>
      <vt:lpstr>Barlow Semi Condensed</vt:lpstr>
      <vt:lpstr>Barlow Semi Condensed Medium</vt:lpstr>
      <vt:lpstr>Awesome Augmented Reality App Pitch Deck by Slidesgo</vt:lpstr>
      <vt:lpstr>PROPOSAL  APLIKASI FORUM TRANSLASI BAHASA INDONESIA-MANADO BERBASIS WEB MENGGUNAKAN METODE EXTREME PROGRAMMING (XP)</vt:lpstr>
      <vt:lpstr>Introduction</vt:lpstr>
      <vt:lpstr>Latar Belakang</vt:lpstr>
      <vt:lpstr>Latar Belakang (cont’d)</vt:lpstr>
      <vt:lpstr>Identifikasi Masalah</vt:lpstr>
      <vt:lpstr>RUMUSAN MASALAH</vt:lpstr>
      <vt:lpstr>Batasan Masalah</vt:lpstr>
      <vt:lpstr>Tujuan</vt:lpstr>
      <vt:lpstr>Manfaat</vt:lpstr>
      <vt:lpstr>Metodologi Penelitian</vt:lpstr>
      <vt:lpstr>Extreme Programming</vt:lpstr>
      <vt:lpstr>Mengapa Extreme Programming?</vt:lpstr>
      <vt:lpstr>PowerPoint Presentation</vt:lpstr>
      <vt:lpstr>Tahapan</vt:lpstr>
      <vt:lpstr>Linghui Liu, Yao Lu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 APLIKASI FORUM TRANSLASI BAHASA INDONESIA-MANADO BERBASIS WEB MENGGUNAKAN METODE EXTREME PROGRAMMING (XP)</dc:title>
  <dc:creator>rightNow _</dc:creator>
  <cp:lastModifiedBy>rightNow _</cp:lastModifiedBy>
  <cp:revision>19</cp:revision>
  <dcterms:modified xsi:type="dcterms:W3CDTF">2022-03-29T22:29:44Z</dcterms:modified>
</cp:coreProperties>
</file>